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charset="1" panose="00000500000000000000"/>
      <p:regular r:id="rId13"/>
    </p:embeddedFont>
    <p:embeddedFont>
      <p:font typeface="Poppins Bold" charset="1" panose="00000800000000000000"/>
      <p:regular r:id="rId14"/>
    </p:embeddedFont>
    <p:embeddedFont>
      <p:font typeface="Poppins Medium" charset="1" panose="00000600000000000000"/>
      <p:regular r:id="rId15"/>
    </p:embeddedFont>
    <p:embeddedFont>
      <p:font typeface="Poppins Semi-Bold" charset="1" panose="00000700000000000000"/>
      <p:regular r:id="rId16"/>
    </p:embeddedFont>
    <p:embeddedFont>
      <p:font typeface="Poppins Light" charset="1" panose="000004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0.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4" id="4"/>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8981DF"/>
            </a:solidFill>
          </p:spPr>
        </p:sp>
        <p:sp>
          <p:nvSpPr>
            <p:cNvPr name="TextBox 7" id="7"/>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907507" y="2541498"/>
            <a:ext cx="14168570" cy="4890634"/>
            <a:chOff x="0" y="0"/>
            <a:chExt cx="3731640" cy="1288068"/>
          </a:xfrm>
        </p:grpSpPr>
        <p:sp>
          <p:nvSpPr>
            <p:cNvPr name="Freeform 9" id="9"/>
            <p:cNvSpPr/>
            <p:nvPr/>
          </p:nvSpPr>
          <p:spPr>
            <a:xfrm flipH="false" flipV="false" rot="0">
              <a:off x="0" y="0"/>
              <a:ext cx="3731640" cy="1288068"/>
            </a:xfrm>
            <a:custGeom>
              <a:avLst/>
              <a:gdLst/>
              <a:ahLst/>
              <a:cxnLst/>
              <a:rect r="r" b="b" t="t" l="l"/>
              <a:pathLst>
                <a:path h="1288068" w="3731640">
                  <a:moveTo>
                    <a:pt x="26774" y="0"/>
                  </a:moveTo>
                  <a:lnTo>
                    <a:pt x="3704866" y="0"/>
                  </a:lnTo>
                  <a:cubicBezTo>
                    <a:pt x="3719653" y="0"/>
                    <a:pt x="3731640" y="11987"/>
                    <a:pt x="3731640" y="26774"/>
                  </a:cubicBezTo>
                  <a:lnTo>
                    <a:pt x="3731640" y="1261294"/>
                  </a:lnTo>
                  <a:cubicBezTo>
                    <a:pt x="3731640" y="1276081"/>
                    <a:pt x="3719653" y="1288068"/>
                    <a:pt x="3704866" y="1288068"/>
                  </a:cubicBezTo>
                  <a:lnTo>
                    <a:pt x="26774" y="1288068"/>
                  </a:lnTo>
                  <a:cubicBezTo>
                    <a:pt x="11987" y="1288068"/>
                    <a:pt x="0" y="1276081"/>
                    <a:pt x="0" y="1261294"/>
                  </a:cubicBezTo>
                  <a:lnTo>
                    <a:pt x="0" y="26774"/>
                  </a:lnTo>
                  <a:cubicBezTo>
                    <a:pt x="0" y="11987"/>
                    <a:pt x="11987" y="0"/>
                    <a:pt x="26774" y="0"/>
                  </a:cubicBezTo>
                  <a:close/>
                </a:path>
              </a:pathLst>
            </a:custGeom>
            <a:solidFill>
              <a:srgbClr val="FFFFFF"/>
            </a:solidFill>
          </p:spPr>
        </p:sp>
        <p:sp>
          <p:nvSpPr>
            <p:cNvPr name="TextBox 10" id="10"/>
            <p:cNvSpPr txBox="true"/>
            <p:nvPr/>
          </p:nvSpPr>
          <p:spPr>
            <a:xfrm>
              <a:off x="0" y="-38100"/>
              <a:ext cx="3731640" cy="132616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916711" y="7009903"/>
            <a:ext cx="9065982" cy="1167429"/>
            <a:chOff x="0" y="0"/>
            <a:chExt cx="2387748" cy="307471"/>
          </a:xfrm>
        </p:grpSpPr>
        <p:sp>
          <p:nvSpPr>
            <p:cNvPr name="Freeform 12" id="12"/>
            <p:cNvSpPr/>
            <p:nvPr/>
          </p:nvSpPr>
          <p:spPr>
            <a:xfrm flipH="false" flipV="false" rot="0">
              <a:off x="0" y="0"/>
              <a:ext cx="2387748" cy="307471"/>
            </a:xfrm>
            <a:custGeom>
              <a:avLst/>
              <a:gdLst/>
              <a:ahLst/>
              <a:cxnLst/>
              <a:rect r="r" b="b" t="t" l="l"/>
              <a:pathLst>
                <a:path h="307471" w="2387748">
                  <a:moveTo>
                    <a:pt x="85395" y="0"/>
                  </a:moveTo>
                  <a:lnTo>
                    <a:pt x="2302353" y="0"/>
                  </a:lnTo>
                  <a:cubicBezTo>
                    <a:pt x="2349516" y="0"/>
                    <a:pt x="2387748" y="38233"/>
                    <a:pt x="2387748" y="85395"/>
                  </a:cubicBezTo>
                  <a:lnTo>
                    <a:pt x="2387748" y="222076"/>
                  </a:lnTo>
                  <a:cubicBezTo>
                    <a:pt x="2387748" y="269238"/>
                    <a:pt x="2349516" y="307471"/>
                    <a:pt x="2302353" y="307471"/>
                  </a:cubicBezTo>
                  <a:lnTo>
                    <a:pt x="85395" y="307471"/>
                  </a:lnTo>
                  <a:cubicBezTo>
                    <a:pt x="38233" y="307471"/>
                    <a:pt x="0" y="269238"/>
                    <a:pt x="0" y="222076"/>
                  </a:cubicBezTo>
                  <a:lnTo>
                    <a:pt x="0" y="85395"/>
                  </a:lnTo>
                  <a:cubicBezTo>
                    <a:pt x="0" y="38233"/>
                    <a:pt x="38233" y="0"/>
                    <a:pt x="85395" y="0"/>
                  </a:cubicBezTo>
                  <a:close/>
                </a:path>
              </a:pathLst>
            </a:custGeom>
            <a:solidFill>
              <a:srgbClr val="F7B8D2"/>
            </a:solidFill>
          </p:spPr>
        </p:sp>
        <p:sp>
          <p:nvSpPr>
            <p:cNvPr name="TextBox 13" id="13"/>
            <p:cNvSpPr txBox="true"/>
            <p:nvPr/>
          </p:nvSpPr>
          <p:spPr>
            <a:xfrm>
              <a:off x="0" y="-38100"/>
              <a:ext cx="2387748" cy="345571"/>
            </a:xfrm>
            <a:prstGeom prst="rect">
              <a:avLst/>
            </a:prstGeom>
          </p:spPr>
          <p:txBody>
            <a:bodyPr anchor="ctr" rtlCol="false" tIns="50800" lIns="50800" bIns="50800" rIns="50800"/>
            <a:lstStyle/>
            <a:p>
              <a:pPr algn="ctr">
                <a:lnSpc>
                  <a:spcPts val="2659"/>
                </a:lnSpc>
              </a:pPr>
            </a:p>
          </p:txBody>
        </p:sp>
      </p:grpSp>
      <p:grpSp>
        <p:nvGrpSpPr>
          <p:cNvPr name="Group 14" id="14"/>
          <p:cNvGrpSpPr>
            <a:grpSpLocks noChangeAspect="true"/>
          </p:cNvGrpSpPr>
          <p:nvPr/>
        </p:nvGrpSpPr>
        <p:grpSpPr>
          <a:xfrm rot="0">
            <a:off x="-519040" y="1028700"/>
            <a:ext cx="5069887" cy="10031643"/>
            <a:chOff x="0" y="0"/>
            <a:chExt cx="2620010" cy="5184140"/>
          </a:xfrm>
        </p:grpSpPr>
        <p:sp>
          <p:nvSpPr>
            <p:cNvPr name="Freeform 15" id="15"/>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6" id="16"/>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1273" r="0" b="-1273"/>
              </a:stretch>
            </a:blipFill>
          </p:spPr>
        </p:sp>
        <p:sp>
          <p:nvSpPr>
            <p:cNvPr name="Freeform 17" id="17"/>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8" id="18"/>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19" id="19"/>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0" id="20"/>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1" id="21"/>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2" id="22"/>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3" id="23"/>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4" id="24"/>
          <p:cNvGrpSpPr/>
          <p:nvPr/>
        </p:nvGrpSpPr>
        <p:grpSpPr>
          <a:xfrm rot="0">
            <a:off x="11438815" y="1042777"/>
            <a:ext cx="1723791" cy="460143"/>
            <a:chOff x="0" y="0"/>
            <a:chExt cx="590295" cy="157571"/>
          </a:xfrm>
        </p:grpSpPr>
        <p:sp>
          <p:nvSpPr>
            <p:cNvPr name="Freeform 25" id="25"/>
            <p:cNvSpPr/>
            <p:nvPr/>
          </p:nvSpPr>
          <p:spPr>
            <a:xfrm flipH="false" flipV="false" rot="0">
              <a:off x="0" y="0"/>
              <a:ext cx="590295" cy="157571"/>
            </a:xfrm>
            <a:custGeom>
              <a:avLst/>
              <a:gdLst/>
              <a:ahLst/>
              <a:cxnLst/>
              <a:rect r="r" b="b" t="t" l="l"/>
              <a:pathLst>
                <a:path h="157571" w="590295">
                  <a:moveTo>
                    <a:pt x="44912" y="0"/>
                  </a:moveTo>
                  <a:lnTo>
                    <a:pt x="545382" y="0"/>
                  </a:lnTo>
                  <a:cubicBezTo>
                    <a:pt x="570187" y="0"/>
                    <a:pt x="590295" y="20108"/>
                    <a:pt x="590295" y="44912"/>
                  </a:cubicBezTo>
                  <a:lnTo>
                    <a:pt x="590295" y="112659"/>
                  </a:lnTo>
                  <a:cubicBezTo>
                    <a:pt x="590295" y="137463"/>
                    <a:pt x="570187" y="157571"/>
                    <a:pt x="545382" y="157571"/>
                  </a:cubicBezTo>
                  <a:lnTo>
                    <a:pt x="44912" y="157571"/>
                  </a:lnTo>
                  <a:cubicBezTo>
                    <a:pt x="20108" y="157571"/>
                    <a:pt x="0" y="137463"/>
                    <a:pt x="0" y="112659"/>
                  </a:cubicBezTo>
                  <a:lnTo>
                    <a:pt x="0" y="44912"/>
                  </a:lnTo>
                  <a:cubicBezTo>
                    <a:pt x="0" y="20108"/>
                    <a:pt x="20108" y="0"/>
                    <a:pt x="44912" y="0"/>
                  </a:cubicBezTo>
                  <a:close/>
                </a:path>
              </a:pathLst>
            </a:custGeom>
            <a:solidFill>
              <a:srgbClr val="F7B8D2"/>
            </a:solidFill>
            <a:ln cap="sq">
              <a:noFill/>
              <a:prstDash val="solid"/>
              <a:miter/>
            </a:ln>
          </p:spPr>
        </p:sp>
        <p:sp>
          <p:nvSpPr>
            <p:cNvPr name="TextBox 26" id="26"/>
            <p:cNvSpPr txBox="true"/>
            <p:nvPr/>
          </p:nvSpPr>
          <p:spPr>
            <a:xfrm>
              <a:off x="0" y="-57150"/>
              <a:ext cx="590295" cy="214721"/>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27" id="27"/>
          <p:cNvSpPr txBox="true"/>
          <p:nvPr/>
        </p:nvSpPr>
        <p:spPr>
          <a:xfrm rot="0">
            <a:off x="5410942" y="7301518"/>
            <a:ext cx="8077521" cy="524510"/>
          </a:xfrm>
          <a:prstGeom prst="rect">
            <a:avLst/>
          </a:prstGeom>
        </p:spPr>
        <p:txBody>
          <a:bodyPr anchor="t" rtlCol="false" tIns="0" lIns="0" bIns="0" rIns="0">
            <a:spAutoFit/>
          </a:bodyPr>
          <a:lstStyle/>
          <a:p>
            <a:pPr algn="ctr">
              <a:lnSpc>
                <a:spcPts val="4165"/>
              </a:lnSpc>
              <a:spcBef>
                <a:spcPct val="0"/>
              </a:spcBef>
            </a:pPr>
            <a:r>
              <a:rPr lang="en-US" sz="2975" spc="196">
                <a:solidFill>
                  <a:srgbClr val="2B2A2A"/>
                </a:solidFill>
                <a:latin typeface="Poppins"/>
                <a:ea typeface="Poppins"/>
                <a:cs typeface="Poppins"/>
                <a:sym typeface="Poppins"/>
              </a:rPr>
              <a:t>DONE BY: RAJA RAJESWARI R [22IT072]</a:t>
            </a:r>
          </a:p>
        </p:txBody>
      </p:sp>
      <p:sp>
        <p:nvSpPr>
          <p:cNvPr name="TextBox 28" id="28"/>
          <p:cNvSpPr txBox="true"/>
          <p:nvPr/>
        </p:nvSpPr>
        <p:spPr>
          <a:xfrm rot="0">
            <a:off x="5525540" y="3416034"/>
            <a:ext cx="11057710" cy="1823463"/>
          </a:xfrm>
          <a:prstGeom prst="rect">
            <a:avLst/>
          </a:prstGeom>
        </p:spPr>
        <p:txBody>
          <a:bodyPr anchor="t" rtlCol="false" tIns="0" lIns="0" bIns="0" rIns="0">
            <a:spAutoFit/>
          </a:bodyPr>
          <a:lstStyle/>
          <a:p>
            <a:pPr algn="l">
              <a:lnSpc>
                <a:spcPts val="13182"/>
              </a:lnSpc>
            </a:pPr>
            <a:r>
              <a:rPr lang="en-US" sz="12319" b="true">
                <a:solidFill>
                  <a:srgbClr val="6B64B8"/>
                </a:solidFill>
                <a:latin typeface="Poppins Bold"/>
                <a:ea typeface="Poppins Bold"/>
                <a:cs typeface="Poppins Bold"/>
                <a:sym typeface="Poppins Bold"/>
              </a:rPr>
              <a:t>SHOP SMART.</a:t>
            </a:r>
          </a:p>
        </p:txBody>
      </p:sp>
      <p:sp>
        <p:nvSpPr>
          <p:cNvPr name="TextBox 29" id="29"/>
          <p:cNvSpPr txBox="true"/>
          <p:nvPr/>
        </p:nvSpPr>
        <p:spPr>
          <a:xfrm rot="0">
            <a:off x="5525540" y="5119216"/>
            <a:ext cx="13691591" cy="1408994"/>
          </a:xfrm>
          <a:prstGeom prst="rect">
            <a:avLst/>
          </a:prstGeom>
        </p:spPr>
        <p:txBody>
          <a:bodyPr anchor="t" rtlCol="false" tIns="0" lIns="0" bIns="0" rIns="0">
            <a:spAutoFit/>
          </a:bodyPr>
          <a:lstStyle/>
          <a:p>
            <a:pPr algn="l">
              <a:lnSpc>
                <a:spcPts val="10036"/>
              </a:lnSpc>
            </a:pPr>
            <a:r>
              <a:rPr lang="en-US" sz="9379">
                <a:solidFill>
                  <a:srgbClr val="646363"/>
                </a:solidFill>
                <a:latin typeface="Poppins"/>
                <a:ea typeface="Poppins"/>
                <a:cs typeface="Poppins"/>
                <a:sym typeface="Poppins"/>
              </a:rPr>
              <a:t>Expiry Date Tracker</a:t>
            </a:r>
          </a:p>
        </p:txBody>
      </p:sp>
      <p:sp>
        <p:nvSpPr>
          <p:cNvPr name="TextBox 30" id="30"/>
          <p:cNvSpPr txBox="true"/>
          <p:nvPr/>
        </p:nvSpPr>
        <p:spPr>
          <a:xfrm rot="0">
            <a:off x="9688080"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31" id="31"/>
          <p:cNvSpPr txBox="true"/>
          <p:nvPr/>
        </p:nvSpPr>
        <p:spPr>
          <a:xfrm rot="0">
            <a:off x="11491323"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32" id="32"/>
          <p:cNvSpPr txBox="true"/>
          <p:nvPr/>
        </p:nvSpPr>
        <p:spPr>
          <a:xfrm rot="0">
            <a:off x="13666306"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33" id="33"/>
          <p:cNvSpPr txBox="true"/>
          <p:nvPr/>
        </p:nvSpPr>
        <p:spPr>
          <a:xfrm rot="0">
            <a:off x="15613784" y="1049992"/>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4" id="4"/>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1729743" y="4532546"/>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8981DF"/>
            </a:solidFill>
          </p:spPr>
        </p:sp>
        <p:sp>
          <p:nvSpPr>
            <p:cNvPr name="TextBox 7" id="7"/>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a:grpSpLocks noChangeAspect="true"/>
          </p:cNvGrpSpPr>
          <p:nvPr/>
        </p:nvGrpSpPr>
        <p:grpSpPr>
          <a:xfrm rot="0">
            <a:off x="11131362" y="2429273"/>
            <a:ext cx="5069887" cy="10031643"/>
            <a:chOff x="0" y="0"/>
            <a:chExt cx="2620010" cy="5184140"/>
          </a:xfrm>
        </p:grpSpPr>
        <p:sp>
          <p:nvSpPr>
            <p:cNvPr name="Freeform 9" id="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0" id="10"/>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1273" r="0" b="-1273"/>
              </a:stretch>
            </a:blipFill>
          </p:spPr>
        </p:sp>
        <p:sp>
          <p:nvSpPr>
            <p:cNvPr name="Freeform 11" id="1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2" id="12"/>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13" id="1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4" id="1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5" id="1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6" id="1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7" id="1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18" id="18"/>
          <p:cNvSpPr/>
          <p:nvPr/>
        </p:nvSpPr>
        <p:spPr>
          <a:xfrm flipH="false" flipV="false" rot="0">
            <a:off x="1024027" y="859014"/>
            <a:ext cx="808901" cy="789781"/>
          </a:xfrm>
          <a:custGeom>
            <a:avLst/>
            <a:gdLst/>
            <a:ahLst/>
            <a:cxnLst/>
            <a:rect r="r" b="b" t="t" l="l"/>
            <a:pathLst>
              <a:path h="789781" w="808901">
                <a:moveTo>
                  <a:pt x="0" y="0"/>
                </a:moveTo>
                <a:lnTo>
                  <a:pt x="808901" y="0"/>
                </a:lnTo>
                <a:lnTo>
                  <a:pt x="808901" y="789782"/>
                </a:lnTo>
                <a:lnTo>
                  <a:pt x="0" y="789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716789" y="2918055"/>
            <a:ext cx="6406223" cy="1114425"/>
          </a:xfrm>
          <a:prstGeom prst="rect">
            <a:avLst/>
          </a:prstGeom>
        </p:spPr>
        <p:txBody>
          <a:bodyPr anchor="t" rtlCol="false" tIns="0" lIns="0" bIns="0" rIns="0">
            <a:spAutoFit/>
          </a:bodyPr>
          <a:lstStyle/>
          <a:p>
            <a:pPr algn="l">
              <a:lnSpc>
                <a:spcPts val="8024"/>
              </a:lnSpc>
            </a:pPr>
            <a:r>
              <a:rPr lang="en-US" sz="7499" b="true">
                <a:solidFill>
                  <a:srgbClr val="2B2A2A"/>
                </a:solidFill>
                <a:latin typeface="Poppins Bold"/>
                <a:ea typeface="Poppins Bold"/>
                <a:cs typeface="Poppins Bold"/>
                <a:sym typeface="Poppins Bold"/>
              </a:rPr>
              <a:t>Introduction</a:t>
            </a:r>
          </a:p>
        </p:txBody>
      </p:sp>
      <p:sp>
        <p:nvSpPr>
          <p:cNvPr name="TextBox 20" id="20"/>
          <p:cNvSpPr txBox="true"/>
          <p:nvPr/>
        </p:nvSpPr>
        <p:spPr>
          <a:xfrm rot="0">
            <a:off x="1716789" y="4242794"/>
            <a:ext cx="7311072" cy="3384692"/>
          </a:xfrm>
          <a:prstGeom prst="rect">
            <a:avLst/>
          </a:prstGeom>
        </p:spPr>
        <p:txBody>
          <a:bodyPr anchor="t" rtlCol="false" tIns="0" lIns="0" bIns="0" rIns="0">
            <a:spAutoFit/>
          </a:bodyPr>
          <a:lstStyle/>
          <a:p>
            <a:pPr algn="l">
              <a:lnSpc>
                <a:spcPts val="3355"/>
              </a:lnSpc>
            </a:pPr>
            <a:r>
              <a:rPr lang="en-US" sz="2222">
                <a:solidFill>
                  <a:srgbClr val="2B2A2A"/>
                </a:solidFill>
                <a:latin typeface="Poppins"/>
                <a:ea typeface="Poppins"/>
                <a:cs typeface="Poppins"/>
                <a:sym typeface="Poppins"/>
              </a:rPr>
              <a:t>Shop Smart is a grocery expiry date tracker app that helps users manage grocery items, reduce waste, and stay notified before items expire.</a:t>
            </a:r>
          </a:p>
          <a:p>
            <a:pPr algn="l">
              <a:lnSpc>
                <a:spcPts val="3355"/>
              </a:lnSpc>
            </a:pPr>
            <a:r>
              <a:rPr lang="en-US" sz="2222">
                <a:solidFill>
                  <a:srgbClr val="2B2A2A"/>
                </a:solidFill>
                <a:latin typeface="Poppins"/>
                <a:ea typeface="Poppins"/>
                <a:cs typeface="Poppins"/>
                <a:sym typeface="Poppins"/>
              </a:rPr>
              <a:t> It features an intuitive UI and essential utilities like:</a:t>
            </a:r>
          </a:p>
          <a:p>
            <a:pPr algn="l" marL="479748" indent="-239874" lvl="1">
              <a:lnSpc>
                <a:spcPts val="3355"/>
              </a:lnSpc>
              <a:buFont typeface="Arial"/>
              <a:buChar char="•"/>
            </a:pPr>
            <a:r>
              <a:rPr lang="en-US" sz="2222">
                <a:solidFill>
                  <a:srgbClr val="2B2A2A"/>
                </a:solidFill>
                <a:latin typeface="Poppins"/>
                <a:ea typeface="Poppins"/>
                <a:cs typeface="Poppins"/>
                <a:sym typeface="Poppins"/>
              </a:rPr>
              <a:t>Location tagging</a:t>
            </a:r>
          </a:p>
          <a:p>
            <a:pPr algn="l" marL="479748" indent="-239874" lvl="1">
              <a:lnSpc>
                <a:spcPts val="3355"/>
              </a:lnSpc>
              <a:buFont typeface="Arial"/>
              <a:buChar char="•"/>
            </a:pPr>
            <a:r>
              <a:rPr lang="en-US" sz="2222">
                <a:solidFill>
                  <a:srgbClr val="2B2A2A"/>
                </a:solidFill>
                <a:latin typeface="Poppins"/>
                <a:ea typeface="Poppins"/>
                <a:cs typeface="Poppins"/>
                <a:sym typeface="Poppins"/>
              </a:rPr>
              <a:t>Camera integration</a:t>
            </a:r>
          </a:p>
          <a:p>
            <a:pPr algn="l" marL="479748" indent="-239874" lvl="1">
              <a:lnSpc>
                <a:spcPts val="3355"/>
              </a:lnSpc>
              <a:buFont typeface="Arial"/>
              <a:buChar char="•"/>
            </a:pPr>
            <a:r>
              <a:rPr lang="en-US" sz="2222">
                <a:solidFill>
                  <a:srgbClr val="2B2A2A"/>
                </a:solidFill>
                <a:latin typeface="Poppins"/>
                <a:ea typeface="Poppins"/>
                <a:cs typeface="Poppins"/>
                <a:sym typeface="Poppins"/>
              </a:rPr>
              <a:t>Smart notifications</a:t>
            </a:r>
          </a:p>
          <a:p>
            <a:pPr algn="l" marL="0" indent="0" lvl="0">
              <a:lnSpc>
                <a:spcPts val="3355"/>
              </a:lnSpc>
            </a:pPr>
          </a:p>
        </p:txBody>
      </p:sp>
      <p:sp>
        <p:nvSpPr>
          <p:cNvPr name="TextBox 21" id="21"/>
          <p:cNvSpPr txBox="true"/>
          <p:nvPr/>
        </p:nvSpPr>
        <p:spPr>
          <a:xfrm rot="0">
            <a:off x="1900893" y="996407"/>
            <a:ext cx="1930226" cy="324836"/>
          </a:xfrm>
          <a:prstGeom prst="rect">
            <a:avLst/>
          </a:prstGeom>
        </p:spPr>
        <p:txBody>
          <a:bodyPr anchor="t" rtlCol="false" tIns="0" lIns="0" bIns="0" rIns="0">
            <a:spAutoFit/>
          </a:bodyPr>
          <a:lstStyle/>
          <a:p>
            <a:pPr algn="l">
              <a:lnSpc>
                <a:spcPts val="2301"/>
              </a:lnSpc>
            </a:pPr>
            <a:r>
              <a:rPr lang="en-US" sz="2150" b="true">
                <a:solidFill>
                  <a:srgbClr val="2B2A2A"/>
                </a:solidFill>
                <a:latin typeface="Poppins Bold"/>
                <a:ea typeface="Poppins Bold"/>
                <a:cs typeface="Poppins Bold"/>
                <a:sym typeface="Poppins Bold"/>
              </a:rPr>
              <a:t>SHOP SMART</a:t>
            </a:r>
          </a:p>
        </p:txBody>
      </p:sp>
      <p:sp>
        <p:nvSpPr>
          <p:cNvPr name="TextBox 22" id="22"/>
          <p:cNvSpPr txBox="true"/>
          <p:nvPr/>
        </p:nvSpPr>
        <p:spPr>
          <a:xfrm rot="0">
            <a:off x="1900893" y="1332894"/>
            <a:ext cx="1635991" cy="178509"/>
          </a:xfrm>
          <a:prstGeom prst="rect">
            <a:avLst/>
          </a:prstGeom>
        </p:spPr>
        <p:txBody>
          <a:bodyPr anchor="t" rtlCol="false" tIns="0" lIns="0" bIns="0" rIns="0">
            <a:spAutoFit/>
          </a:bodyPr>
          <a:lstStyle/>
          <a:p>
            <a:pPr algn="l">
              <a:lnSpc>
                <a:spcPts val="1352"/>
              </a:lnSpc>
            </a:pPr>
            <a:r>
              <a:rPr lang="en-US" sz="1263">
                <a:solidFill>
                  <a:srgbClr val="2B2A2A"/>
                </a:solidFill>
                <a:latin typeface="Poppins"/>
                <a:ea typeface="Poppins"/>
                <a:cs typeface="Poppins"/>
                <a:sym typeface="Poppins"/>
              </a:rPr>
              <a:t>eXPIRY tRACKER</a:t>
            </a:r>
          </a:p>
        </p:txBody>
      </p:sp>
      <p:grpSp>
        <p:nvGrpSpPr>
          <p:cNvPr name="Group 23" id="23"/>
          <p:cNvGrpSpPr/>
          <p:nvPr/>
        </p:nvGrpSpPr>
        <p:grpSpPr>
          <a:xfrm rot="0">
            <a:off x="9027861" y="1042777"/>
            <a:ext cx="1551389" cy="422257"/>
            <a:chOff x="0" y="0"/>
            <a:chExt cx="531257" cy="144598"/>
          </a:xfrm>
        </p:grpSpPr>
        <p:sp>
          <p:nvSpPr>
            <p:cNvPr name="Freeform 24" id="24"/>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F7B8D2"/>
            </a:solidFill>
            <a:ln cap="sq">
              <a:noFill/>
              <a:prstDash val="solid"/>
              <a:miter/>
            </a:ln>
          </p:spPr>
        </p:sp>
        <p:sp>
          <p:nvSpPr>
            <p:cNvPr name="TextBox 25" id="25"/>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26" id="26"/>
          <p:cNvSpPr txBox="true"/>
          <p:nvPr/>
        </p:nvSpPr>
        <p:spPr>
          <a:xfrm rot="0">
            <a:off x="9266239"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27" id="27"/>
          <p:cNvSpPr txBox="true"/>
          <p:nvPr/>
        </p:nvSpPr>
        <p:spPr>
          <a:xfrm rot="0">
            <a:off x="11069482"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28" id="28"/>
          <p:cNvSpPr txBox="true"/>
          <p:nvPr/>
        </p:nvSpPr>
        <p:spPr>
          <a:xfrm rot="0">
            <a:off x="13244465"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29" id="29"/>
          <p:cNvSpPr txBox="true"/>
          <p:nvPr/>
        </p:nvSpPr>
        <p:spPr>
          <a:xfrm rot="0">
            <a:off x="15447217" y="1066711"/>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Features</a:t>
            </a:r>
          </a:p>
        </p:txBody>
      </p:sp>
      <p:sp>
        <p:nvSpPr>
          <p:cNvPr name="TextBox 30" id="30"/>
          <p:cNvSpPr txBox="true"/>
          <p:nvPr/>
        </p:nvSpPr>
        <p:spPr>
          <a:xfrm rot="0">
            <a:off x="16961780" y="1032068"/>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p:nvPr/>
        </p:nvGrpSpPr>
        <p:grpSpPr>
          <a:xfrm rot="524141">
            <a:off x="-568171" y="-15505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4" id="4"/>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720571" y="-1702946"/>
            <a:ext cx="4544240" cy="5877852"/>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7" id="7"/>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24141">
            <a:off x="12600905" y="4985961"/>
            <a:ext cx="7307079" cy="9451509"/>
            <a:chOff x="0" y="0"/>
            <a:chExt cx="665246" cy="860478"/>
          </a:xfrm>
        </p:grpSpPr>
        <p:sp>
          <p:nvSpPr>
            <p:cNvPr name="Freeform 9" id="9"/>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8981DF"/>
            </a:solidFill>
          </p:spPr>
        </p:sp>
        <p:sp>
          <p:nvSpPr>
            <p:cNvPr name="TextBox 10" id="10"/>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a:grpSpLocks noChangeAspect="true"/>
          </p:cNvGrpSpPr>
          <p:nvPr/>
        </p:nvGrpSpPr>
        <p:grpSpPr>
          <a:xfrm rot="0">
            <a:off x="12214510" y="2159640"/>
            <a:ext cx="5096442" cy="10084186"/>
            <a:chOff x="0" y="0"/>
            <a:chExt cx="2620010" cy="5184140"/>
          </a:xfrm>
        </p:grpSpPr>
        <p:sp>
          <p:nvSpPr>
            <p:cNvPr name="Freeform 12" id="1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3" id="13"/>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0947" t="0" r="-10947" b="0"/>
              </a:stretch>
            </a:blipFill>
          </p:spPr>
        </p:sp>
        <p:sp>
          <p:nvSpPr>
            <p:cNvPr name="Freeform 14" id="1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5" id="15"/>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16" id="1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7" id="1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9" id="1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0" id="2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1" id="21"/>
          <p:cNvGrpSpPr>
            <a:grpSpLocks noChangeAspect="true"/>
          </p:cNvGrpSpPr>
          <p:nvPr/>
        </p:nvGrpSpPr>
        <p:grpSpPr>
          <a:xfrm rot="0">
            <a:off x="9144000" y="4563169"/>
            <a:ext cx="3881724" cy="7680657"/>
            <a:chOff x="0" y="0"/>
            <a:chExt cx="2620010" cy="5184140"/>
          </a:xfrm>
        </p:grpSpPr>
        <p:sp>
          <p:nvSpPr>
            <p:cNvPr name="Freeform 22" id="22"/>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3" id="23"/>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0947" t="0" r="-10947" b="0"/>
              </a:stretch>
            </a:blipFill>
          </p:spPr>
        </p:sp>
        <p:sp>
          <p:nvSpPr>
            <p:cNvPr name="Freeform 24" id="24"/>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5" id="25"/>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26" id="26"/>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7" id="27"/>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8" id="28"/>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9" id="29"/>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0" id="30"/>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31" id="31"/>
          <p:cNvSpPr txBox="true"/>
          <p:nvPr/>
        </p:nvSpPr>
        <p:spPr>
          <a:xfrm rot="0">
            <a:off x="1585662" y="2178690"/>
            <a:ext cx="6837083" cy="1111705"/>
          </a:xfrm>
          <a:prstGeom prst="rect">
            <a:avLst/>
          </a:prstGeom>
        </p:spPr>
        <p:txBody>
          <a:bodyPr anchor="t" rtlCol="false" tIns="0" lIns="0" bIns="0" rIns="0">
            <a:spAutoFit/>
          </a:bodyPr>
          <a:lstStyle/>
          <a:p>
            <a:pPr algn="l" marL="0" indent="0" lvl="0">
              <a:lnSpc>
                <a:spcPts val="8024"/>
              </a:lnSpc>
              <a:spcBef>
                <a:spcPct val="0"/>
              </a:spcBef>
            </a:pPr>
            <a:r>
              <a:rPr lang="en-US" b="true" sz="7499">
                <a:solidFill>
                  <a:srgbClr val="F7B8D2"/>
                </a:solidFill>
                <a:latin typeface="Poppins Bold"/>
                <a:ea typeface="Poppins Bold"/>
                <a:cs typeface="Poppins Bold"/>
                <a:sym typeface="Poppins Bold"/>
              </a:rPr>
              <a:t>SIMILAR</a:t>
            </a:r>
          </a:p>
        </p:txBody>
      </p:sp>
      <p:sp>
        <p:nvSpPr>
          <p:cNvPr name="TextBox 32" id="32"/>
          <p:cNvSpPr txBox="true"/>
          <p:nvPr/>
        </p:nvSpPr>
        <p:spPr>
          <a:xfrm rot="0">
            <a:off x="1572101" y="3167186"/>
            <a:ext cx="5813361" cy="1111705"/>
          </a:xfrm>
          <a:prstGeom prst="rect">
            <a:avLst/>
          </a:prstGeom>
        </p:spPr>
        <p:txBody>
          <a:bodyPr anchor="t" rtlCol="false" tIns="0" lIns="0" bIns="0" rIns="0">
            <a:spAutoFit/>
          </a:bodyPr>
          <a:lstStyle/>
          <a:p>
            <a:pPr algn="l" marL="0" indent="0" lvl="0">
              <a:lnSpc>
                <a:spcPts val="8024"/>
              </a:lnSpc>
              <a:spcBef>
                <a:spcPct val="0"/>
              </a:spcBef>
            </a:pPr>
            <a:r>
              <a:rPr lang="en-US" b="true" sz="7499">
                <a:solidFill>
                  <a:srgbClr val="2B2A2A"/>
                </a:solidFill>
                <a:latin typeface="Poppins Bold"/>
                <a:ea typeface="Poppins Bold"/>
                <a:cs typeface="Poppins Bold"/>
                <a:sym typeface="Poppins Bold"/>
              </a:rPr>
              <a:t>Apps</a:t>
            </a:r>
          </a:p>
        </p:txBody>
      </p:sp>
      <p:sp>
        <p:nvSpPr>
          <p:cNvPr name="TextBox 33" id="33"/>
          <p:cNvSpPr txBox="true"/>
          <p:nvPr/>
        </p:nvSpPr>
        <p:spPr>
          <a:xfrm rot="0">
            <a:off x="1512847" y="4477444"/>
            <a:ext cx="7880896" cy="3816985"/>
          </a:xfrm>
          <a:prstGeom prst="rect">
            <a:avLst/>
          </a:prstGeom>
        </p:spPr>
        <p:txBody>
          <a:bodyPr anchor="t" rtlCol="false" tIns="0" lIns="0" bIns="0" rIns="0">
            <a:spAutoFit/>
          </a:bodyPr>
          <a:lstStyle/>
          <a:p>
            <a:pPr algn="l">
              <a:lnSpc>
                <a:spcPts val="3020"/>
              </a:lnSpc>
            </a:pPr>
            <a:r>
              <a:rPr lang="en-US" sz="2000">
                <a:solidFill>
                  <a:srgbClr val="2B2A2A"/>
                </a:solidFill>
                <a:latin typeface="Poppins"/>
                <a:ea typeface="Poppins"/>
                <a:cs typeface="Poppins"/>
                <a:sym typeface="Poppins"/>
              </a:rPr>
              <a:t>Compared to other apps:</a:t>
            </a:r>
          </a:p>
          <a:p>
            <a:pPr algn="l" marL="431801" indent="-215900" lvl="1">
              <a:lnSpc>
                <a:spcPts val="3020"/>
              </a:lnSpc>
              <a:buFont typeface="Arial"/>
              <a:buChar char="•"/>
            </a:pPr>
            <a:r>
              <a:rPr lang="en-US" sz="2000">
                <a:solidFill>
                  <a:srgbClr val="2B2A2A"/>
                </a:solidFill>
                <a:latin typeface="Poppins"/>
                <a:ea typeface="Poppins"/>
                <a:cs typeface="Poppins"/>
                <a:sym typeface="Poppins"/>
              </a:rPr>
              <a:t>Most offer only basic grocery lists</a:t>
            </a:r>
          </a:p>
          <a:p>
            <a:pPr algn="l" marL="431801" indent="-215900" lvl="1">
              <a:lnSpc>
                <a:spcPts val="3020"/>
              </a:lnSpc>
              <a:buFont typeface="Arial"/>
              <a:buChar char="•"/>
            </a:pPr>
            <a:r>
              <a:rPr lang="en-US" sz="2000">
                <a:solidFill>
                  <a:srgbClr val="2B2A2A"/>
                </a:solidFill>
                <a:latin typeface="Poppins"/>
                <a:ea typeface="Poppins"/>
                <a:cs typeface="Poppins"/>
                <a:sym typeface="Poppins"/>
              </a:rPr>
              <a:t>Lack features like:</a:t>
            </a:r>
          </a:p>
          <a:p>
            <a:pPr algn="l" marL="863601" indent="-287867" lvl="2">
              <a:lnSpc>
                <a:spcPts val="3020"/>
              </a:lnSpc>
              <a:buFont typeface="Arial"/>
              <a:buChar char="⚬"/>
            </a:pPr>
            <a:r>
              <a:rPr lang="en-US" sz="2000">
                <a:solidFill>
                  <a:srgbClr val="2B2A2A"/>
                </a:solidFill>
                <a:latin typeface="Poppins"/>
                <a:ea typeface="Poppins"/>
                <a:cs typeface="Poppins"/>
                <a:sym typeface="Poppins"/>
              </a:rPr>
              <a:t>Expiry tracking</a:t>
            </a:r>
          </a:p>
          <a:p>
            <a:pPr algn="l" marL="863601" indent="-287867" lvl="2">
              <a:lnSpc>
                <a:spcPts val="3020"/>
              </a:lnSpc>
              <a:buFont typeface="Arial"/>
              <a:buChar char="⚬"/>
            </a:pPr>
            <a:r>
              <a:rPr lang="en-US" sz="2000">
                <a:solidFill>
                  <a:srgbClr val="2B2A2A"/>
                </a:solidFill>
                <a:latin typeface="Poppins"/>
                <a:ea typeface="Poppins"/>
                <a:cs typeface="Poppins"/>
                <a:sym typeface="Poppins"/>
              </a:rPr>
              <a:t>Notification scheduling</a:t>
            </a:r>
          </a:p>
          <a:p>
            <a:pPr algn="l" marL="863601" indent="-287867" lvl="2">
              <a:lnSpc>
                <a:spcPts val="3020"/>
              </a:lnSpc>
              <a:buFont typeface="Arial"/>
              <a:buChar char="⚬"/>
            </a:pPr>
            <a:r>
              <a:rPr lang="en-US" sz="2000">
                <a:solidFill>
                  <a:srgbClr val="2B2A2A"/>
                </a:solidFill>
                <a:latin typeface="Poppins"/>
                <a:ea typeface="Poppins"/>
                <a:cs typeface="Poppins"/>
                <a:sym typeface="Poppins"/>
              </a:rPr>
              <a:t>WhatsApp messaging</a:t>
            </a:r>
          </a:p>
          <a:p>
            <a:pPr algn="l" marL="863601" indent="-287867" lvl="2">
              <a:lnSpc>
                <a:spcPts val="3020"/>
              </a:lnSpc>
              <a:buFont typeface="Arial"/>
              <a:buChar char="⚬"/>
            </a:pPr>
            <a:r>
              <a:rPr lang="en-US" sz="2000">
                <a:solidFill>
                  <a:srgbClr val="2B2A2A"/>
                </a:solidFill>
                <a:latin typeface="Poppins"/>
                <a:ea typeface="Poppins"/>
                <a:cs typeface="Poppins"/>
                <a:sym typeface="Poppins"/>
              </a:rPr>
              <a:t>Integration with local device features (camera, location)</a:t>
            </a:r>
          </a:p>
          <a:p>
            <a:pPr algn="l">
              <a:lnSpc>
                <a:spcPts val="3020"/>
              </a:lnSpc>
            </a:pPr>
            <a:r>
              <a:rPr lang="en-US" sz="2000">
                <a:solidFill>
                  <a:srgbClr val="2B2A2A"/>
                </a:solidFill>
                <a:latin typeface="Poppins"/>
                <a:ea typeface="Poppins"/>
                <a:cs typeface="Poppins"/>
                <a:sym typeface="Poppins"/>
              </a:rPr>
              <a:t>Shop Smart solves all these gaps.</a:t>
            </a:r>
          </a:p>
          <a:p>
            <a:pPr algn="l" marL="0" indent="0" lvl="0">
              <a:lnSpc>
                <a:spcPts val="3020"/>
              </a:lnSpc>
            </a:pPr>
          </a:p>
        </p:txBody>
      </p:sp>
      <p:sp>
        <p:nvSpPr>
          <p:cNvPr name="Freeform 34" id="34"/>
          <p:cNvSpPr/>
          <p:nvPr/>
        </p:nvSpPr>
        <p:spPr>
          <a:xfrm flipH="false" flipV="false" rot="0">
            <a:off x="895049" y="926353"/>
            <a:ext cx="808901" cy="789781"/>
          </a:xfrm>
          <a:custGeom>
            <a:avLst/>
            <a:gdLst/>
            <a:ahLst/>
            <a:cxnLst/>
            <a:rect r="r" b="b" t="t" l="l"/>
            <a:pathLst>
              <a:path h="789781" w="808901">
                <a:moveTo>
                  <a:pt x="0" y="0"/>
                </a:moveTo>
                <a:lnTo>
                  <a:pt x="808900" y="0"/>
                </a:lnTo>
                <a:lnTo>
                  <a:pt x="808900" y="789781"/>
                </a:lnTo>
                <a:lnTo>
                  <a:pt x="0" y="7897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5" id="35"/>
          <p:cNvSpPr txBox="true"/>
          <p:nvPr/>
        </p:nvSpPr>
        <p:spPr>
          <a:xfrm rot="0">
            <a:off x="1759059" y="1107142"/>
            <a:ext cx="1930226" cy="324836"/>
          </a:xfrm>
          <a:prstGeom prst="rect">
            <a:avLst/>
          </a:prstGeom>
        </p:spPr>
        <p:txBody>
          <a:bodyPr anchor="t" rtlCol="false" tIns="0" lIns="0" bIns="0" rIns="0">
            <a:spAutoFit/>
          </a:bodyPr>
          <a:lstStyle/>
          <a:p>
            <a:pPr algn="l">
              <a:lnSpc>
                <a:spcPts val="2301"/>
              </a:lnSpc>
            </a:pPr>
            <a:r>
              <a:rPr lang="en-US" sz="2150" b="true">
                <a:solidFill>
                  <a:srgbClr val="2B2A2A"/>
                </a:solidFill>
                <a:latin typeface="Poppins Bold"/>
                <a:ea typeface="Poppins Bold"/>
                <a:cs typeface="Poppins Bold"/>
                <a:sym typeface="Poppins Bold"/>
              </a:rPr>
              <a:t>SHOP SMART</a:t>
            </a:r>
          </a:p>
        </p:txBody>
      </p:sp>
      <p:sp>
        <p:nvSpPr>
          <p:cNvPr name="TextBox 36" id="36"/>
          <p:cNvSpPr txBox="true"/>
          <p:nvPr/>
        </p:nvSpPr>
        <p:spPr>
          <a:xfrm rot="0">
            <a:off x="2053293" y="1485294"/>
            <a:ext cx="1635991" cy="178509"/>
          </a:xfrm>
          <a:prstGeom prst="rect">
            <a:avLst/>
          </a:prstGeom>
        </p:spPr>
        <p:txBody>
          <a:bodyPr anchor="t" rtlCol="false" tIns="0" lIns="0" bIns="0" rIns="0">
            <a:spAutoFit/>
          </a:bodyPr>
          <a:lstStyle/>
          <a:p>
            <a:pPr algn="l">
              <a:lnSpc>
                <a:spcPts val="1352"/>
              </a:lnSpc>
            </a:pPr>
            <a:r>
              <a:rPr lang="en-US" sz="1263">
                <a:solidFill>
                  <a:srgbClr val="2B2A2A"/>
                </a:solidFill>
                <a:latin typeface="Poppins"/>
                <a:ea typeface="Poppins"/>
                <a:cs typeface="Poppins"/>
                <a:sym typeface="Poppins"/>
              </a:rPr>
              <a:t>EXPIRY TRACKER</a:t>
            </a:r>
          </a:p>
        </p:txBody>
      </p:sp>
      <p:grpSp>
        <p:nvGrpSpPr>
          <p:cNvPr name="Group 37" id="37"/>
          <p:cNvGrpSpPr/>
          <p:nvPr/>
        </p:nvGrpSpPr>
        <p:grpSpPr>
          <a:xfrm rot="0">
            <a:off x="11084862" y="1042777"/>
            <a:ext cx="1673828" cy="432993"/>
            <a:chOff x="0" y="0"/>
            <a:chExt cx="573185" cy="148274"/>
          </a:xfrm>
        </p:grpSpPr>
        <p:sp>
          <p:nvSpPr>
            <p:cNvPr name="Freeform 38" id="38"/>
            <p:cNvSpPr/>
            <p:nvPr/>
          </p:nvSpPr>
          <p:spPr>
            <a:xfrm flipH="false" flipV="false" rot="0">
              <a:off x="0" y="0"/>
              <a:ext cx="573185" cy="148274"/>
            </a:xfrm>
            <a:custGeom>
              <a:avLst/>
              <a:gdLst/>
              <a:ahLst/>
              <a:cxnLst/>
              <a:rect r="r" b="b" t="t" l="l"/>
              <a:pathLst>
                <a:path h="148274" w="573185">
                  <a:moveTo>
                    <a:pt x="46253" y="0"/>
                  </a:moveTo>
                  <a:lnTo>
                    <a:pt x="526932" y="0"/>
                  </a:lnTo>
                  <a:cubicBezTo>
                    <a:pt x="552477" y="0"/>
                    <a:pt x="573185" y="20708"/>
                    <a:pt x="573185" y="46253"/>
                  </a:cubicBezTo>
                  <a:lnTo>
                    <a:pt x="573185" y="102021"/>
                  </a:lnTo>
                  <a:cubicBezTo>
                    <a:pt x="573185" y="114288"/>
                    <a:pt x="568312" y="126053"/>
                    <a:pt x="559638" y="134727"/>
                  </a:cubicBezTo>
                  <a:cubicBezTo>
                    <a:pt x="550964" y="143401"/>
                    <a:pt x="539199" y="148274"/>
                    <a:pt x="526932" y="148274"/>
                  </a:cubicBezTo>
                  <a:lnTo>
                    <a:pt x="46253" y="148274"/>
                  </a:lnTo>
                  <a:cubicBezTo>
                    <a:pt x="33986" y="148274"/>
                    <a:pt x="22221" y="143401"/>
                    <a:pt x="13547" y="134727"/>
                  </a:cubicBezTo>
                  <a:cubicBezTo>
                    <a:pt x="4873" y="126053"/>
                    <a:pt x="0" y="114288"/>
                    <a:pt x="0" y="102021"/>
                  </a:cubicBezTo>
                  <a:lnTo>
                    <a:pt x="0" y="46253"/>
                  </a:lnTo>
                  <a:cubicBezTo>
                    <a:pt x="0" y="33986"/>
                    <a:pt x="4873" y="22221"/>
                    <a:pt x="13547" y="13547"/>
                  </a:cubicBezTo>
                  <a:cubicBezTo>
                    <a:pt x="22221" y="4873"/>
                    <a:pt x="33986" y="0"/>
                    <a:pt x="46253" y="0"/>
                  </a:cubicBezTo>
                  <a:close/>
                </a:path>
              </a:pathLst>
            </a:custGeom>
            <a:solidFill>
              <a:srgbClr val="F7B8D2"/>
            </a:solidFill>
            <a:ln cap="sq">
              <a:noFill/>
              <a:prstDash val="solid"/>
              <a:miter/>
            </a:ln>
          </p:spPr>
        </p:sp>
        <p:sp>
          <p:nvSpPr>
            <p:cNvPr name="TextBox 39" id="39"/>
            <p:cNvSpPr txBox="true"/>
            <p:nvPr/>
          </p:nvSpPr>
          <p:spPr>
            <a:xfrm>
              <a:off x="0" y="-57150"/>
              <a:ext cx="573185" cy="205424"/>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40" id="40"/>
          <p:cNvSpPr txBox="true"/>
          <p:nvPr/>
        </p:nvSpPr>
        <p:spPr>
          <a:xfrm rot="0">
            <a:off x="9266239"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41" id="41"/>
          <p:cNvSpPr txBox="true"/>
          <p:nvPr/>
        </p:nvSpPr>
        <p:spPr>
          <a:xfrm rot="0">
            <a:off x="11069482"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42" id="42"/>
          <p:cNvSpPr txBox="true"/>
          <p:nvPr/>
        </p:nvSpPr>
        <p:spPr>
          <a:xfrm rot="0">
            <a:off x="13244465"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43" id="43"/>
          <p:cNvSpPr txBox="true"/>
          <p:nvPr/>
        </p:nvSpPr>
        <p:spPr>
          <a:xfrm rot="0">
            <a:off x="15447217" y="1066711"/>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Features</a:t>
            </a:r>
          </a:p>
        </p:txBody>
      </p:sp>
      <p:sp>
        <p:nvSpPr>
          <p:cNvPr name="TextBox 44" id="44"/>
          <p:cNvSpPr txBox="true"/>
          <p:nvPr/>
        </p:nvSpPr>
        <p:spPr>
          <a:xfrm rot="0">
            <a:off x="16961780" y="1032068"/>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p:nvPr/>
        </p:nvGrpSpPr>
        <p:grpSpPr>
          <a:xfrm rot="524141">
            <a:off x="-2272120" y="-4344859"/>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4" id="4"/>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032880" y="3710980"/>
            <a:ext cx="12687804" cy="9451509"/>
            <a:chOff x="0" y="0"/>
            <a:chExt cx="1155115" cy="860478"/>
          </a:xfrm>
        </p:grpSpPr>
        <p:sp>
          <p:nvSpPr>
            <p:cNvPr name="Freeform 6" id="6"/>
            <p:cNvSpPr/>
            <p:nvPr/>
          </p:nvSpPr>
          <p:spPr>
            <a:xfrm flipH="false" flipV="false" rot="0">
              <a:off x="0" y="0"/>
              <a:ext cx="1155115" cy="860478"/>
            </a:xfrm>
            <a:custGeom>
              <a:avLst/>
              <a:gdLst/>
              <a:ahLst/>
              <a:cxnLst/>
              <a:rect r="r" b="b" t="t" l="l"/>
              <a:pathLst>
                <a:path h="860478" w="1155115">
                  <a:moveTo>
                    <a:pt x="41493" y="0"/>
                  </a:moveTo>
                  <a:lnTo>
                    <a:pt x="1113622" y="0"/>
                  </a:lnTo>
                  <a:cubicBezTo>
                    <a:pt x="1124626" y="0"/>
                    <a:pt x="1135180" y="4372"/>
                    <a:pt x="1142962" y="12153"/>
                  </a:cubicBezTo>
                  <a:cubicBezTo>
                    <a:pt x="1150743" y="19934"/>
                    <a:pt x="1155115" y="30488"/>
                    <a:pt x="1155115" y="41493"/>
                  </a:cubicBezTo>
                  <a:lnTo>
                    <a:pt x="1155115" y="818985"/>
                  </a:lnTo>
                  <a:cubicBezTo>
                    <a:pt x="1155115" y="841901"/>
                    <a:pt x="1136538" y="860478"/>
                    <a:pt x="1113622" y="860478"/>
                  </a:cubicBezTo>
                  <a:lnTo>
                    <a:pt x="41493" y="860478"/>
                  </a:lnTo>
                  <a:cubicBezTo>
                    <a:pt x="18577" y="860478"/>
                    <a:pt x="0" y="841901"/>
                    <a:pt x="0" y="818985"/>
                  </a:cubicBezTo>
                  <a:lnTo>
                    <a:pt x="0" y="41493"/>
                  </a:lnTo>
                  <a:cubicBezTo>
                    <a:pt x="0" y="30488"/>
                    <a:pt x="4372" y="19934"/>
                    <a:pt x="12153" y="12153"/>
                  </a:cubicBezTo>
                  <a:cubicBezTo>
                    <a:pt x="19934" y="4372"/>
                    <a:pt x="30488" y="0"/>
                    <a:pt x="41493" y="0"/>
                  </a:cubicBezTo>
                  <a:close/>
                </a:path>
              </a:pathLst>
            </a:custGeom>
            <a:solidFill>
              <a:srgbClr val="8981DF"/>
            </a:solidFill>
          </p:spPr>
        </p:sp>
        <p:sp>
          <p:nvSpPr>
            <p:cNvPr name="TextBox 7" id="7"/>
            <p:cNvSpPr txBox="true"/>
            <p:nvPr/>
          </p:nvSpPr>
          <p:spPr>
            <a:xfrm>
              <a:off x="0" y="-38100"/>
              <a:ext cx="1155115"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649490" y="4250465"/>
            <a:ext cx="639485" cy="63948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8D2"/>
            </a:solidFill>
          </p:spPr>
        </p:sp>
        <p:sp>
          <p:nvSpPr>
            <p:cNvPr name="TextBox 10" id="10"/>
            <p:cNvSpPr txBox="true"/>
            <p:nvPr/>
          </p:nvSpPr>
          <p:spPr>
            <a:xfrm>
              <a:off x="76200" y="114300"/>
              <a:ext cx="660400" cy="622300"/>
            </a:xfrm>
            <a:prstGeom prst="rect">
              <a:avLst/>
            </a:prstGeom>
          </p:spPr>
          <p:txBody>
            <a:bodyPr anchor="ctr" rtlCol="false" tIns="50800" lIns="50800" bIns="50800" rIns="50800"/>
            <a:lstStyle/>
            <a:p>
              <a:pPr algn="ctr">
                <a:lnSpc>
                  <a:spcPts val="2600"/>
                </a:lnSpc>
              </a:pPr>
            </a:p>
          </p:txBody>
        </p:sp>
      </p:grpSp>
      <p:sp>
        <p:nvSpPr>
          <p:cNvPr name="TextBox 11" id="11"/>
          <p:cNvSpPr txBox="true"/>
          <p:nvPr/>
        </p:nvSpPr>
        <p:spPr>
          <a:xfrm rot="0">
            <a:off x="7649490" y="5005863"/>
            <a:ext cx="3517301" cy="365125"/>
          </a:xfrm>
          <a:prstGeom prst="rect">
            <a:avLst/>
          </a:prstGeom>
        </p:spPr>
        <p:txBody>
          <a:bodyPr anchor="t" rtlCol="false" tIns="0" lIns="0" bIns="0" rIns="0">
            <a:spAutoFit/>
          </a:bodyPr>
          <a:lstStyle/>
          <a:p>
            <a:pPr algn="l" marL="0" indent="0" lvl="0">
              <a:lnSpc>
                <a:spcPts val="2600"/>
              </a:lnSpc>
            </a:pPr>
            <a:r>
              <a:rPr lang="en-US" b="true" sz="2500">
                <a:solidFill>
                  <a:srgbClr val="2B2A2A"/>
                </a:solidFill>
                <a:latin typeface="Poppins Medium"/>
                <a:ea typeface="Poppins Medium"/>
                <a:cs typeface="Poppins Medium"/>
                <a:sym typeface="Poppins Medium"/>
              </a:rPr>
              <a:t>Add &amp; View ITEM</a:t>
            </a:r>
          </a:p>
        </p:txBody>
      </p:sp>
      <p:sp>
        <p:nvSpPr>
          <p:cNvPr name="TextBox 12" id="12"/>
          <p:cNvSpPr txBox="true"/>
          <p:nvPr/>
        </p:nvSpPr>
        <p:spPr>
          <a:xfrm rot="0">
            <a:off x="13057039" y="4991912"/>
            <a:ext cx="4024907" cy="365125"/>
          </a:xfrm>
          <a:prstGeom prst="rect">
            <a:avLst/>
          </a:prstGeom>
        </p:spPr>
        <p:txBody>
          <a:bodyPr anchor="t" rtlCol="false" tIns="0" lIns="0" bIns="0" rIns="0">
            <a:spAutoFit/>
          </a:bodyPr>
          <a:lstStyle/>
          <a:p>
            <a:pPr algn="l" marL="0" indent="0" lvl="0">
              <a:lnSpc>
                <a:spcPts val="2600"/>
              </a:lnSpc>
            </a:pPr>
            <a:r>
              <a:rPr lang="en-US" b="true" sz="2500">
                <a:solidFill>
                  <a:srgbClr val="2B2A2A"/>
                </a:solidFill>
                <a:latin typeface="Poppins Medium"/>
                <a:ea typeface="Poppins Medium"/>
                <a:cs typeface="Poppins Medium"/>
                <a:sym typeface="Poppins Medium"/>
              </a:rPr>
              <a:t>Map Integration</a:t>
            </a:r>
          </a:p>
        </p:txBody>
      </p:sp>
      <p:sp>
        <p:nvSpPr>
          <p:cNvPr name="TextBox 13" id="13"/>
          <p:cNvSpPr txBox="true"/>
          <p:nvPr/>
        </p:nvSpPr>
        <p:spPr>
          <a:xfrm rot="0">
            <a:off x="7649490" y="7753619"/>
            <a:ext cx="3771180" cy="688975"/>
          </a:xfrm>
          <a:prstGeom prst="rect">
            <a:avLst/>
          </a:prstGeom>
        </p:spPr>
        <p:txBody>
          <a:bodyPr anchor="t" rtlCol="false" tIns="0" lIns="0" bIns="0" rIns="0">
            <a:spAutoFit/>
          </a:bodyPr>
          <a:lstStyle/>
          <a:p>
            <a:pPr algn="l" marL="0" indent="0" lvl="0">
              <a:lnSpc>
                <a:spcPts val="2600"/>
              </a:lnSpc>
            </a:pPr>
            <a:r>
              <a:rPr lang="en-US" b="true" sz="2500">
                <a:solidFill>
                  <a:srgbClr val="2B2A2A"/>
                </a:solidFill>
                <a:latin typeface="Poppins Medium"/>
                <a:ea typeface="Poppins Medium"/>
                <a:cs typeface="Poppins Medium"/>
                <a:sym typeface="Poppins Medium"/>
              </a:rPr>
              <a:t>Whatsapp &amp; Message Remainder</a:t>
            </a:r>
          </a:p>
        </p:txBody>
      </p:sp>
      <p:sp>
        <p:nvSpPr>
          <p:cNvPr name="TextBox 14" id="14"/>
          <p:cNvSpPr txBox="true"/>
          <p:nvPr/>
        </p:nvSpPr>
        <p:spPr>
          <a:xfrm rot="0">
            <a:off x="13057039" y="7754863"/>
            <a:ext cx="3197405" cy="365125"/>
          </a:xfrm>
          <a:prstGeom prst="rect">
            <a:avLst/>
          </a:prstGeom>
        </p:spPr>
        <p:txBody>
          <a:bodyPr anchor="t" rtlCol="false" tIns="0" lIns="0" bIns="0" rIns="0">
            <a:spAutoFit/>
          </a:bodyPr>
          <a:lstStyle/>
          <a:p>
            <a:pPr algn="l" marL="0" indent="0" lvl="0">
              <a:lnSpc>
                <a:spcPts val="2600"/>
              </a:lnSpc>
            </a:pPr>
            <a:r>
              <a:rPr lang="en-US" b="true" sz="2500">
                <a:solidFill>
                  <a:srgbClr val="2B2A2A"/>
                </a:solidFill>
                <a:latin typeface="Poppins Medium"/>
                <a:ea typeface="Poppins Medium"/>
                <a:cs typeface="Poppins Medium"/>
                <a:sym typeface="Poppins Medium"/>
              </a:rPr>
              <a:t>Camera Function</a:t>
            </a:r>
          </a:p>
        </p:txBody>
      </p:sp>
      <p:sp>
        <p:nvSpPr>
          <p:cNvPr name="TextBox 15" id="15"/>
          <p:cNvSpPr txBox="true"/>
          <p:nvPr/>
        </p:nvSpPr>
        <p:spPr>
          <a:xfrm rot="0">
            <a:off x="7851822" y="4322929"/>
            <a:ext cx="363188" cy="476505"/>
          </a:xfrm>
          <a:prstGeom prst="rect">
            <a:avLst/>
          </a:prstGeom>
        </p:spPr>
        <p:txBody>
          <a:bodyPr anchor="t" rtlCol="false" tIns="0" lIns="0" bIns="0" rIns="0">
            <a:spAutoFit/>
          </a:bodyPr>
          <a:lstStyle/>
          <a:p>
            <a:pPr algn="l" marL="0" indent="0" lvl="0">
              <a:lnSpc>
                <a:spcPts val="3425"/>
              </a:lnSpc>
            </a:pPr>
            <a:r>
              <a:rPr lang="en-US" b="true" sz="3293" spc="-125">
                <a:solidFill>
                  <a:srgbClr val="2B2A2A"/>
                </a:solidFill>
                <a:latin typeface="Poppins Semi-Bold"/>
                <a:ea typeface="Poppins Semi-Bold"/>
                <a:cs typeface="Poppins Semi-Bold"/>
                <a:sym typeface="Poppins Semi-Bold"/>
              </a:rPr>
              <a:t>1</a:t>
            </a:r>
          </a:p>
        </p:txBody>
      </p:sp>
      <p:grpSp>
        <p:nvGrpSpPr>
          <p:cNvPr name="Group 16" id="16"/>
          <p:cNvGrpSpPr/>
          <p:nvPr/>
        </p:nvGrpSpPr>
        <p:grpSpPr>
          <a:xfrm rot="0">
            <a:off x="13057039" y="4250465"/>
            <a:ext cx="639485" cy="63948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8D2"/>
            </a:solidFill>
          </p:spPr>
        </p:sp>
        <p:sp>
          <p:nvSpPr>
            <p:cNvPr name="TextBox 18" id="18"/>
            <p:cNvSpPr txBox="true"/>
            <p:nvPr/>
          </p:nvSpPr>
          <p:spPr>
            <a:xfrm>
              <a:off x="76200" y="114300"/>
              <a:ext cx="660400" cy="622300"/>
            </a:xfrm>
            <a:prstGeom prst="rect">
              <a:avLst/>
            </a:prstGeom>
          </p:spPr>
          <p:txBody>
            <a:bodyPr anchor="ctr" rtlCol="false" tIns="50800" lIns="50800" bIns="50800" rIns="50800"/>
            <a:lstStyle/>
            <a:p>
              <a:pPr algn="ctr">
                <a:lnSpc>
                  <a:spcPts val="2600"/>
                </a:lnSpc>
              </a:pPr>
            </a:p>
          </p:txBody>
        </p:sp>
      </p:grpSp>
      <p:sp>
        <p:nvSpPr>
          <p:cNvPr name="TextBox 19" id="19"/>
          <p:cNvSpPr txBox="true"/>
          <p:nvPr/>
        </p:nvSpPr>
        <p:spPr>
          <a:xfrm rot="0">
            <a:off x="13259371" y="4322929"/>
            <a:ext cx="363188" cy="476505"/>
          </a:xfrm>
          <a:prstGeom prst="rect">
            <a:avLst/>
          </a:prstGeom>
        </p:spPr>
        <p:txBody>
          <a:bodyPr anchor="t" rtlCol="false" tIns="0" lIns="0" bIns="0" rIns="0">
            <a:spAutoFit/>
          </a:bodyPr>
          <a:lstStyle/>
          <a:p>
            <a:pPr algn="l" marL="0" indent="0" lvl="0">
              <a:lnSpc>
                <a:spcPts val="3425"/>
              </a:lnSpc>
            </a:pPr>
            <a:r>
              <a:rPr lang="en-US" b="true" sz="3293" spc="-125">
                <a:solidFill>
                  <a:srgbClr val="2B2A2A"/>
                </a:solidFill>
                <a:latin typeface="Poppins Semi-Bold"/>
                <a:ea typeface="Poppins Semi-Bold"/>
                <a:cs typeface="Poppins Semi-Bold"/>
                <a:sym typeface="Poppins Semi-Bold"/>
              </a:rPr>
              <a:t>2</a:t>
            </a:r>
          </a:p>
        </p:txBody>
      </p:sp>
      <p:grpSp>
        <p:nvGrpSpPr>
          <p:cNvPr name="Group 20" id="20"/>
          <p:cNvGrpSpPr/>
          <p:nvPr/>
        </p:nvGrpSpPr>
        <p:grpSpPr>
          <a:xfrm rot="0">
            <a:off x="7649490" y="6998221"/>
            <a:ext cx="639485" cy="63948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8D2"/>
            </a:solidFill>
          </p:spPr>
        </p:sp>
        <p:sp>
          <p:nvSpPr>
            <p:cNvPr name="TextBox 22" id="22"/>
            <p:cNvSpPr txBox="true"/>
            <p:nvPr/>
          </p:nvSpPr>
          <p:spPr>
            <a:xfrm>
              <a:off x="76200" y="114300"/>
              <a:ext cx="660400" cy="622300"/>
            </a:xfrm>
            <a:prstGeom prst="rect">
              <a:avLst/>
            </a:prstGeom>
          </p:spPr>
          <p:txBody>
            <a:bodyPr anchor="ctr" rtlCol="false" tIns="50800" lIns="50800" bIns="50800" rIns="50800"/>
            <a:lstStyle/>
            <a:p>
              <a:pPr algn="ctr">
                <a:lnSpc>
                  <a:spcPts val="2600"/>
                </a:lnSpc>
              </a:pPr>
            </a:p>
          </p:txBody>
        </p:sp>
      </p:grpSp>
      <p:sp>
        <p:nvSpPr>
          <p:cNvPr name="TextBox 23" id="23"/>
          <p:cNvSpPr txBox="true"/>
          <p:nvPr/>
        </p:nvSpPr>
        <p:spPr>
          <a:xfrm rot="0">
            <a:off x="7851822" y="7070685"/>
            <a:ext cx="363188" cy="476505"/>
          </a:xfrm>
          <a:prstGeom prst="rect">
            <a:avLst/>
          </a:prstGeom>
        </p:spPr>
        <p:txBody>
          <a:bodyPr anchor="t" rtlCol="false" tIns="0" lIns="0" bIns="0" rIns="0">
            <a:spAutoFit/>
          </a:bodyPr>
          <a:lstStyle/>
          <a:p>
            <a:pPr algn="l" marL="0" indent="0" lvl="0">
              <a:lnSpc>
                <a:spcPts val="3425"/>
              </a:lnSpc>
            </a:pPr>
            <a:r>
              <a:rPr lang="en-US" b="true" sz="3293" spc="-125">
                <a:solidFill>
                  <a:srgbClr val="2B2A2A"/>
                </a:solidFill>
                <a:latin typeface="Poppins Semi-Bold"/>
                <a:ea typeface="Poppins Semi-Bold"/>
                <a:cs typeface="Poppins Semi-Bold"/>
                <a:sym typeface="Poppins Semi-Bold"/>
              </a:rPr>
              <a:t>3</a:t>
            </a:r>
          </a:p>
        </p:txBody>
      </p:sp>
      <p:grpSp>
        <p:nvGrpSpPr>
          <p:cNvPr name="Group 24" id="24"/>
          <p:cNvGrpSpPr/>
          <p:nvPr/>
        </p:nvGrpSpPr>
        <p:grpSpPr>
          <a:xfrm rot="0">
            <a:off x="13057039" y="6998221"/>
            <a:ext cx="639485" cy="63948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8D2"/>
            </a:solidFill>
          </p:spPr>
        </p:sp>
        <p:sp>
          <p:nvSpPr>
            <p:cNvPr name="TextBox 26" id="26"/>
            <p:cNvSpPr txBox="true"/>
            <p:nvPr/>
          </p:nvSpPr>
          <p:spPr>
            <a:xfrm>
              <a:off x="76200" y="114300"/>
              <a:ext cx="660400" cy="622300"/>
            </a:xfrm>
            <a:prstGeom prst="rect">
              <a:avLst/>
            </a:prstGeom>
          </p:spPr>
          <p:txBody>
            <a:bodyPr anchor="ctr" rtlCol="false" tIns="50800" lIns="50800" bIns="50800" rIns="50800"/>
            <a:lstStyle/>
            <a:p>
              <a:pPr algn="ctr">
                <a:lnSpc>
                  <a:spcPts val="2600"/>
                </a:lnSpc>
              </a:pPr>
            </a:p>
          </p:txBody>
        </p:sp>
      </p:grpSp>
      <p:sp>
        <p:nvSpPr>
          <p:cNvPr name="TextBox 27" id="27"/>
          <p:cNvSpPr txBox="true"/>
          <p:nvPr/>
        </p:nvSpPr>
        <p:spPr>
          <a:xfrm rot="0">
            <a:off x="13214238" y="7089735"/>
            <a:ext cx="363188" cy="476505"/>
          </a:xfrm>
          <a:prstGeom prst="rect">
            <a:avLst/>
          </a:prstGeom>
        </p:spPr>
        <p:txBody>
          <a:bodyPr anchor="t" rtlCol="false" tIns="0" lIns="0" bIns="0" rIns="0">
            <a:spAutoFit/>
          </a:bodyPr>
          <a:lstStyle/>
          <a:p>
            <a:pPr algn="l" marL="0" indent="0" lvl="0">
              <a:lnSpc>
                <a:spcPts val="3425"/>
              </a:lnSpc>
            </a:pPr>
            <a:r>
              <a:rPr lang="en-US" b="true" sz="3293" spc="-125">
                <a:solidFill>
                  <a:srgbClr val="2B2A2A"/>
                </a:solidFill>
                <a:latin typeface="Poppins Semi-Bold"/>
                <a:ea typeface="Poppins Semi-Bold"/>
                <a:cs typeface="Poppins Semi-Bold"/>
                <a:sym typeface="Poppins Semi-Bold"/>
              </a:rPr>
              <a:t>4</a:t>
            </a:r>
          </a:p>
        </p:txBody>
      </p:sp>
      <p:sp>
        <p:nvSpPr>
          <p:cNvPr name="TextBox 28" id="28"/>
          <p:cNvSpPr txBox="true"/>
          <p:nvPr/>
        </p:nvSpPr>
        <p:spPr>
          <a:xfrm rot="0">
            <a:off x="7649490" y="5426497"/>
            <a:ext cx="4172275" cy="1511427"/>
          </a:xfrm>
          <a:prstGeom prst="rect">
            <a:avLst/>
          </a:prstGeom>
        </p:spPr>
        <p:txBody>
          <a:bodyPr anchor="t" rtlCol="false" tIns="0" lIns="0" bIns="0" rIns="0">
            <a:spAutoFit/>
          </a:bodyPr>
          <a:lstStyle/>
          <a:p>
            <a:pPr algn="l" marL="0" indent="0" lvl="0">
              <a:lnSpc>
                <a:spcPts val="1988"/>
              </a:lnSpc>
            </a:pPr>
            <a:r>
              <a:rPr lang="en-US" sz="1699">
                <a:solidFill>
                  <a:srgbClr val="2B2A2A"/>
                </a:solidFill>
                <a:latin typeface="Poppins Light"/>
                <a:ea typeface="Poppins Light"/>
                <a:cs typeface="Poppins Light"/>
                <a:sym typeface="Poppins Light"/>
              </a:rPr>
              <a:t>Users can easily add grocery items along with their expiry dates, quantity, and location, and later view the complete list with intuitive card layouts, pictures, and menu options for editing or deleting.</a:t>
            </a:r>
          </a:p>
        </p:txBody>
      </p:sp>
      <p:sp>
        <p:nvSpPr>
          <p:cNvPr name="TextBox 29" id="29"/>
          <p:cNvSpPr txBox="true"/>
          <p:nvPr/>
        </p:nvSpPr>
        <p:spPr>
          <a:xfrm rot="0">
            <a:off x="13057039" y="5426497"/>
            <a:ext cx="4202261" cy="1511427"/>
          </a:xfrm>
          <a:prstGeom prst="rect">
            <a:avLst/>
          </a:prstGeom>
        </p:spPr>
        <p:txBody>
          <a:bodyPr anchor="t" rtlCol="false" tIns="0" lIns="0" bIns="0" rIns="0">
            <a:spAutoFit/>
          </a:bodyPr>
          <a:lstStyle/>
          <a:p>
            <a:pPr algn="l" marL="0" indent="0" lvl="0">
              <a:lnSpc>
                <a:spcPts val="1988"/>
              </a:lnSpc>
            </a:pPr>
            <a:r>
              <a:rPr lang="en-US" sz="1699">
                <a:solidFill>
                  <a:srgbClr val="2B2A2A"/>
                </a:solidFill>
                <a:latin typeface="Poppins Light"/>
                <a:ea typeface="Poppins Light"/>
                <a:cs typeface="Poppins Light"/>
                <a:sym typeface="Poppins Light"/>
              </a:rPr>
              <a:t>The app uses GPS-based location services to tag where items were added and provides a map view to locate nearby grocery stores, enhancing user convenience and planning.</a:t>
            </a:r>
          </a:p>
        </p:txBody>
      </p:sp>
      <p:sp>
        <p:nvSpPr>
          <p:cNvPr name="TextBox 30" id="30"/>
          <p:cNvSpPr txBox="true"/>
          <p:nvPr/>
        </p:nvSpPr>
        <p:spPr>
          <a:xfrm rot="0">
            <a:off x="7649490" y="8499744"/>
            <a:ext cx="4172275" cy="1263777"/>
          </a:xfrm>
          <a:prstGeom prst="rect">
            <a:avLst/>
          </a:prstGeom>
        </p:spPr>
        <p:txBody>
          <a:bodyPr anchor="t" rtlCol="false" tIns="0" lIns="0" bIns="0" rIns="0">
            <a:spAutoFit/>
          </a:bodyPr>
          <a:lstStyle/>
          <a:p>
            <a:pPr algn="l" marL="0" indent="0" lvl="0">
              <a:lnSpc>
                <a:spcPts val="1988"/>
              </a:lnSpc>
            </a:pPr>
            <a:r>
              <a:rPr lang="en-US" sz="1699">
                <a:solidFill>
                  <a:srgbClr val="2B2A2A"/>
                </a:solidFill>
                <a:latin typeface="Poppins Light"/>
                <a:ea typeface="Poppins Light"/>
                <a:cs typeface="Poppins Light"/>
                <a:sym typeface="Poppins Light"/>
              </a:rPr>
              <a:t>Users can instantly send grocery expiry reminders to themselves or others via WhatsApp or SMS, ensuring that important items are not forgotten or wasted.</a:t>
            </a:r>
          </a:p>
        </p:txBody>
      </p:sp>
      <p:sp>
        <p:nvSpPr>
          <p:cNvPr name="TextBox 31" id="31"/>
          <p:cNvSpPr txBox="true"/>
          <p:nvPr/>
        </p:nvSpPr>
        <p:spPr>
          <a:xfrm rot="0">
            <a:off x="13057039" y="8156447"/>
            <a:ext cx="4202261" cy="1263777"/>
          </a:xfrm>
          <a:prstGeom prst="rect">
            <a:avLst/>
          </a:prstGeom>
        </p:spPr>
        <p:txBody>
          <a:bodyPr anchor="t" rtlCol="false" tIns="0" lIns="0" bIns="0" rIns="0">
            <a:spAutoFit/>
          </a:bodyPr>
          <a:lstStyle/>
          <a:p>
            <a:pPr algn="l" marL="0" indent="0" lvl="0">
              <a:lnSpc>
                <a:spcPts val="1988"/>
              </a:lnSpc>
            </a:pPr>
            <a:r>
              <a:rPr lang="en-US" sz="1699">
                <a:solidFill>
                  <a:srgbClr val="2B2A2A"/>
                </a:solidFill>
                <a:latin typeface="Poppins Light"/>
                <a:ea typeface="Poppins Light"/>
                <a:cs typeface="Poppins Light"/>
                <a:sym typeface="Poppins Light"/>
              </a:rPr>
              <a:t>Users can capture images of grocery items directly within the app using the built-in camera feature, helping with visual identification and inventory tracking.</a:t>
            </a:r>
          </a:p>
        </p:txBody>
      </p:sp>
      <p:sp>
        <p:nvSpPr>
          <p:cNvPr name="TextBox 32" id="32"/>
          <p:cNvSpPr txBox="true"/>
          <p:nvPr/>
        </p:nvSpPr>
        <p:spPr>
          <a:xfrm rot="0">
            <a:off x="1572101" y="2203678"/>
            <a:ext cx="5549061" cy="1111705"/>
          </a:xfrm>
          <a:prstGeom prst="rect">
            <a:avLst/>
          </a:prstGeom>
        </p:spPr>
        <p:txBody>
          <a:bodyPr anchor="t" rtlCol="false" tIns="0" lIns="0" bIns="0" rIns="0">
            <a:spAutoFit/>
          </a:bodyPr>
          <a:lstStyle/>
          <a:p>
            <a:pPr algn="l" marL="0" indent="0" lvl="0">
              <a:lnSpc>
                <a:spcPts val="8024"/>
              </a:lnSpc>
              <a:spcBef>
                <a:spcPct val="0"/>
              </a:spcBef>
            </a:pPr>
            <a:r>
              <a:rPr lang="en-US" b="true" sz="7499">
                <a:solidFill>
                  <a:srgbClr val="2B2A2A"/>
                </a:solidFill>
                <a:latin typeface="Poppins Bold"/>
                <a:ea typeface="Poppins Bold"/>
                <a:cs typeface="Poppins Bold"/>
                <a:sym typeface="Poppins Bold"/>
              </a:rPr>
              <a:t>Apps </a:t>
            </a:r>
            <a:r>
              <a:rPr lang="en-US" b="true" sz="7499" strike="noStrike" u="none">
                <a:solidFill>
                  <a:srgbClr val="2B2A2A"/>
                </a:solidFill>
                <a:latin typeface="Poppins Bold"/>
                <a:ea typeface="Poppins Bold"/>
                <a:cs typeface="Poppins Bold"/>
                <a:sym typeface="Poppins Bold"/>
              </a:rPr>
              <a:t>Main</a:t>
            </a:r>
          </a:p>
        </p:txBody>
      </p:sp>
      <p:sp>
        <p:nvSpPr>
          <p:cNvPr name="TextBox 33" id="33"/>
          <p:cNvSpPr txBox="true"/>
          <p:nvPr/>
        </p:nvSpPr>
        <p:spPr>
          <a:xfrm rot="0">
            <a:off x="1558540" y="3192174"/>
            <a:ext cx="5813361" cy="1111705"/>
          </a:xfrm>
          <a:prstGeom prst="rect">
            <a:avLst/>
          </a:prstGeom>
        </p:spPr>
        <p:txBody>
          <a:bodyPr anchor="t" rtlCol="false" tIns="0" lIns="0" bIns="0" rIns="0">
            <a:spAutoFit/>
          </a:bodyPr>
          <a:lstStyle/>
          <a:p>
            <a:pPr algn="l" marL="0" indent="0" lvl="0">
              <a:lnSpc>
                <a:spcPts val="8024"/>
              </a:lnSpc>
              <a:spcBef>
                <a:spcPct val="0"/>
              </a:spcBef>
            </a:pPr>
            <a:r>
              <a:rPr lang="en-US" b="true" sz="7499" strike="noStrike" u="none">
                <a:solidFill>
                  <a:srgbClr val="2B2A2A"/>
                </a:solidFill>
                <a:latin typeface="Poppins Bold"/>
                <a:ea typeface="Poppins Bold"/>
                <a:cs typeface="Poppins Bold"/>
                <a:sym typeface="Poppins Bold"/>
              </a:rPr>
              <a:t>Features</a:t>
            </a:r>
          </a:p>
        </p:txBody>
      </p:sp>
      <p:sp>
        <p:nvSpPr>
          <p:cNvPr name="Freeform 34" id="34"/>
          <p:cNvSpPr/>
          <p:nvPr/>
        </p:nvSpPr>
        <p:spPr>
          <a:xfrm flipH="false" flipV="false" rot="0">
            <a:off x="1280777" y="996407"/>
            <a:ext cx="464139" cy="514995"/>
          </a:xfrm>
          <a:custGeom>
            <a:avLst/>
            <a:gdLst/>
            <a:ahLst/>
            <a:cxnLst/>
            <a:rect r="r" b="b" t="t" l="l"/>
            <a:pathLst>
              <a:path h="514995" w="464139">
                <a:moveTo>
                  <a:pt x="0" y="0"/>
                </a:moveTo>
                <a:lnTo>
                  <a:pt x="464140" y="0"/>
                </a:lnTo>
                <a:lnTo>
                  <a:pt x="464140" y="514996"/>
                </a:lnTo>
                <a:lnTo>
                  <a:pt x="0" y="51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5" id="35"/>
          <p:cNvSpPr txBox="true"/>
          <p:nvPr/>
        </p:nvSpPr>
        <p:spPr>
          <a:xfrm rot="0">
            <a:off x="1900893" y="996407"/>
            <a:ext cx="1930226" cy="324836"/>
          </a:xfrm>
          <a:prstGeom prst="rect">
            <a:avLst/>
          </a:prstGeom>
        </p:spPr>
        <p:txBody>
          <a:bodyPr anchor="t" rtlCol="false" tIns="0" lIns="0" bIns="0" rIns="0">
            <a:spAutoFit/>
          </a:bodyPr>
          <a:lstStyle/>
          <a:p>
            <a:pPr algn="l">
              <a:lnSpc>
                <a:spcPts val="2301"/>
              </a:lnSpc>
            </a:pPr>
            <a:r>
              <a:rPr lang="en-US" sz="2150" b="true">
                <a:solidFill>
                  <a:srgbClr val="2B2A2A"/>
                </a:solidFill>
                <a:latin typeface="Poppins Bold"/>
                <a:ea typeface="Poppins Bold"/>
                <a:cs typeface="Poppins Bold"/>
                <a:sym typeface="Poppins Bold"/>
              </a:rPr>
              <a:t>SHOP SMART</a:t>
            </a:r>
          </a:p>
        </p:txBody>
      </p:sp>
      <p:sp>
        <p:nvSpPr>
          <p:cNvPr name="TextBox 36" id="36"/>
          <p:cNvSpPr txBox="true"/>
          <p:nvPr/>
        </p:nvSpPr>
        <p:spPr>
          <a:xfrm rot="0">
            <a:off x="1900893" y="1332894"/>
            <a:ext cx="1219493" cy="178509"/>
          </a:xfrm>
          <a:prstGeom prst="rect">
            <a:avLst/>
          </a:prstGeom>
        </p:spPr>
        <p:txBody>
          <a:bodyPr anchor="t" rtlCol="false" tIns="0" lIns="0" bIns="0" rIns="0">
            <a:spAutoFit/>
          </a:bodyPr>
          <a:lstStyle/>
          <a:p>
            <a:pPr algn="l">
              <a:lnSpc>
                <a:spcPts val="1352"/>
              </a:lnSpc>
            </a:pPr>
            <a:r>
              <a:rPr lang="en-US" sz="1263">
                <a:solidFill>
                  <a:srgbClr val="2B2A2A"/>
                </a:solidFill>
                <a:latin typeface="Poppins"/>
                <a:ea typeface="Poppins"/>
                <a:cs typeface="Poppins"/>
                <a:sym typeface="Poppins"/>
              </a:rPr>
              <a:t>Expiry Tracker</a:t>
            </a:r>
          </a:p>
        </p:txBody>
      </p:sp>
      <p:grpSp>
        <p:nvGrpSpPr>
          <p:cNvPr name="Group 37" id="37"/>
          <p:cNvGrpSpPr>
            <a:grpSpLocks noChangeAspect="true"/>
          </p:cNvGrpSpPr>
          <p:nvPr/>
        </p:nvGrpSpPr>
        <p:grpSpPr>
          <a:xfrm rot="0">
            <a:off x="1720521" y="4570207"/>
            <a:ext cx="4074109" cy="8061324"/>
            <a:chOff x="0" y="0"/>
            <a:chExt cx="2620010" cy="5184140"/>
          </a:xfrm>
        </p:grpSpPr>
        <p:sp>
          <p:nvSpPr>
            <p:cNvPr name="Freeform 38" id="38"/>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9" id="39"/>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1273" r="0" b="-1273"/>
              </a:stretch>
            </a:blipFill>
          </p:spPr>
        </p:sp>
        <p:sp>
          <p:nvSpPr>
            <p:cNvPr name="Freeform 40" id="40"/>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1" id="41"/>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42" id="42"/>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3" id="43"/>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4" id="44"/>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5" id="45"/>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6" id="46"/>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47" id="47"/>
          <p:cNvSpPr/>
          <p:nvPr/>
        </p:nvSpPr>
        <p:spPr>
          <a:xfrm flipH="false" flipV="false" rot="0">
            <a:off x="1024027" y="859014"/>
            <a:ext cx="808901" cy="789781"/>
          </a:xfrm>
          <a:custGeom>
            <a:avLst/>
            <a:gdLst/>
            <a:ahLst/>
            <a:cxnLst/>
            <a:rect r="r" b="b" t="t" l="l"/>
            <a:pathLst>
              <a:path h="789781" w="808901">
                <a:moveTo>
                  <a:pt x="0" y="0"/>
                </a:moveTo>
                <a:lnTo>
                  <a:pt x="808901" y="0"/>
                </a:lnTo>
                <a:lnTo>
                  <a:pt x="808901" y="789782"/>
                </a:lnTo>
                <a:lnTo>
                  <a:pt x="0" y="7897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8" id="48"/>
          <p:cNvGrpSpPr/>
          <p:nvPr/>
        </p:nvGrpSpPr>
        <p:grpSpPr>
          <a:xfrm rot="0">
            <a:off x="13259371" y="1028700"/>
            <a:ext cx="1857089" cy="434177"/>
            <a:chOff x="0" y="0"/>
            <a:chExt cx="635941" cy="148680"/>
          </a:xfrm>
        </p:grpSpPr>
        <p:sp>
          <p:nvSpPr>
            <p:cNvPr name="Freeform 49" id="49"/>
            <p:cNvSpPr/>
            <p:nvPr/>
          </p:nvSpPr>
          <p:spPr>
            <a:xfrm flipH="false" flipV="false" rot="0">
              <a:off x="0" y="0"/>
              <a:ext cx="635941" cy="148680"/>
            </a:xfrm>
            <a:custGeom>
              <a:avLst/>
              <a:gdLst/>
              <a:ahLst/>
              <a:cxnLst/>
              <a:rect r="r" b="b" t="t" l="l"/>
              <a:pathLst>
                <a:path h="148680" w="635941">
                  <a:moveTo>
                    <a:pt x="41688" y="0"/>
                  </a:moveTo>
                  <a:lnTo>
                    <a:pt x="594253" y="0"/>
                  </a:lnTo>
                  <a:cubicBezTo>
                    <a:pt x="605309" y="0"/>
                    <a:pt x="615913" y="4392"/>
                    <a:pt x="623731" y="12210"/>
                  </a:cubicBezTo>
                  <a:cubicBezTo>
                    <a:pt x="631549" y="20028"/>
                    <a:pt x="635941" y="30632"/>
                    <a:pt x="635941" y="41688"/>
                  </a:cubicBezTo>
                  <a:lnTo>
                    <a:pt x="635941" y="106991"/>
                  </a:lnTo>
                  <a:cubicBezTo>
                    <a:pt x="635941" y="118048"/>
                    <a:pt x="631549" y="128651"/>
                    <a:pt x="623731" y="136469"/>
                  </a:cubicBezTo>
                  <a:cubicBezTo>
                    <a:pt x="615913" y="144287"/>
                    <a:pt x="605309" y="148680"/>
                    <a:pt x="594253" y="148680"/>
                  </a:cubicBezTo>
                  <a:lnTo>
                    <a:pt x="41688" y="148680"/>
                  </a:lnTo>
                  <a:cubicBezTo>
                    <a:pt x="18665" y="148680"/>
                    <a:pt x="0" y="130015"/>
                    <a:pt x="0" y="106991"/>
                  </a:cubicBezTo>
                  <a:lnTo>
                    <a:pt x="0" y="41688"/>
                  </a:lnTo>
                  <a:cubicBezTo>
                    <a:pt x="0" y="30632"/>
                    <a:pt x="4392" y="20028"/>
                    <a:pt x="12210" y="12210"/>
                  </a:cubicBezTo>
                  <a:cubicBezTo>
                    <a:pt x="20028" y="4392"/>
                    <a:pt x="30632" y="0"/>
                    <a:pt x="41688" y="0"/>
                  </a:cubicBezTo>
                  <a:close/>
                </a:path>
              </a:pathLst>
            </a:custGeom>
            <a:solidFill>
              <a:srgbClr val="F7B8D2"/>
            </a:solidFill>
            <a:ln cap="sq">
              <a:noFill/>
              <a:prstDash val="solid"/>
              <a:miter/>
            </a:ln>
          </p:spPr>
        </p:sp>
        <p:sp>
          <p:nvSpPr>
            <p:cNvPr name="TextBox 50" id="50"/>
            <p:cNvSpPr txBox="true"/>
            <p:nvPr/>
          </p:nvSpPr>
          <p:spPr>
            <a:xfrm>
              <a:off x="0" y="-57150"/>
              <a:ext cx="635941" cy="20583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51" id="51"/>
          <p:cNvSpPr txBox="true"/>
          <p:nvPr/>
        </p:nvSpPr>
        <p:spPr>
          <a:xfrm rot="0">
            <a:off x="9266239"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52" id="52"/>
          <p:cNvSpPr txBox="true"/>
          <p:nvPr/>
        </p:nvSpPr>
        <p:spPr>
          <a:xfrm rot="0">
            <a:off x="11069482"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53" id="53"/>
          <p:cNvSpPr txBox="true"/>
          <p:nvPr/>
        </p:nvSpPr>
        <p:spPr>
          <a:xfrm rot="0">
            <a:off x="13244465"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54" id="54"/>
          <p:cNvSpPr txBox="true"/>
          <p:nvPr/>
        </p:nvSpPr>
        <p:spPr>
          <a:xfrm rot="0">
            <a:off x="15447217" y="1066711"/>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Features</a:t>
            </a:r>
          </a:p>
        </p:txBody>
      </p:sp>
      <p:sp>
        <p:nvSpPr>
          <p:cNvPr name="TextBox 55" id="55"/>
          <p:cNvSpPr txBox="true"/>
          <p:nvPr/>
        </p:nvSpPr>
        <p:spPr>
          <a:xfrm rot="0">
            <a:off x="16961780" y="1032068"/>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4" id="4"/>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473106">
            <a:off x="8695744" y="4202400"/>
            <a:ext cx="11855355" cy="8511976"/>
            <a:chOff x="0" y="0"/>
            <a:chExt cx="1079327" cy="774942"/>
          </a:xfrm>
        </p:grpSpPr>
        <p:sp>
          <p:nvSpPr>
            <p:cNvPr name="Freeform 6" id="6"/>
            <p:cNvSpPr/>
            <p:nvPr/>
          </p:nvSpPr>
          <p:spPr>
            <a:xfrm flipH="false" flipV="false" rot="0">
              <a:off x="0" y="0"/>
              <a:ext cx="1079327" cy="774942"/>
            </a:xfrm>
            <a:custGeom>
              <a:avLst/>
              <a:gdLst/>
              <a:ahLst/>
              <a:cxnLst/>
              <a:rect r="r" b="b" t="t" l="l"/>
              <a:pathLst>
                <a:path h="774942" w="1079327">
                  <a:moveTo>
                    <a:pt x="44406" y="0"/>
                  </a:moveTo>
                  <a:lnTo>
                    <a:pt x="1034921" y="0"/>
                  </a:lnTo>
                  <a:cubicBezTo>
                    <a:pt x="1046698" y="0"/>
                    <a:pt x="1057993" y="4678"/>
                    <a:pt x="1066321" y="13006"/>
                  </a:cubicBezTo>
                  <a:cubicBezTo>
                    <a:pt x="1074649" y="21334"/>
                    <a:pt x="1079327" y="32629"/>
                    <a:pt x="1079327" y="44406"/>
                  </a:cubicBezTo>
                  <a:lnTo>
                    <a:pt x="1079327" y="730535"/>
                  </a:lnTo>
                  <a:cubicBezTo>
                    <a:pt x="1079327" y="742313"/>
                    <a:pt x="1074649" y="753608"/>
                    <a:pt x="1066321" y="761935"/>
                  </a:cubicBezTo>
                  <a:cubicBezTo>
                    <a:pt x="1057993" y="770263"/>
                    <a:pt x="1046698" y="774942"/>
                    <a:pt x="1034921" y="774942"/>
                  </a:cubicBezTo>
                  <a:lnTo>
                    <a:pt x="44406" y="774942"/>
                  </a:lnTo>
                  <a:cubicBezTo>
                    <a:pt x="32629" y="774942"/>
                    <a:pt x="21334" y="770263"/>
                    <a:pt x="13006" y="761935"/>
                  </a:cubicBezTo>
                  <a:cubicBezTo>
                    <a:pt x="4678" y="753608"/>
                    <a:pt x="0" y="742313"/>
                    <a:pt x="0" y="730535"/>
                  </a:cubicBezTo>
                  <a:lnTo>
                    <a:pt x="0" y="44406"/>
                  </a:lnTo>
                  <a:cubicBezTo>
                    <a:pt x="0" y="32629"/>
                    <a:pt x="4678" y="21334"/>
                    <a:pt x="13006" y="13006"/>
                  </a:cubicBezTo>
                  <a:cubicBezTo>
                    <a:pt x="21334" y="4678"/>
                    <a:pt x="32629" y="0"/>
                    <a:pt x="44406" y="0"/>
                  </a:cubicBezTo>
                  <a:close/>
                </a:path>
              </a:pathLst>
            </a:custGeom>
            <a:solidFill>
              <a:srgbClr val="8981DF"/>
            </a:solidFill>
          </p:spPr>
        </p:sp>
        <p:sp>
          <p:nvSpPr>
            <p:cNvPr name="TextBox 7" id="7"/>
            <p:cNvSpPr txBox="true"/>
            <p:nvPr/>
          </p:nvSpPr>
          <p:spPr>
            <a:xfrm>
              <a:off x="0" y="-38100"/>
              <a:ext cx="1079327" cy="813042"/>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a:grpSpLocks noChangeAspect="true"/>
          </p:cNvGrpSpPr>
          <p:nvPr/>
        </p:nvGrpSpPr>
        <p:grpSpPr>
          <a:xfrm rot="0">
            <a:off x="13827158" y="2098934"/>
            <a:ext cx="3971794" cy="7858877"/>
            <a:chOff x="0" y="0"/>
            <a:chExt cx="2620010" cy="5184140"/>
          </a:xfrm>
        </p:grpSpPr>
        <p:sp>
          <p:nvSpPr>
            <p:cNvPr name="Freeform 9" id="9"/>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0" id="10"/>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1273" r="0" b="-1273"/>
              </a:stretch>
            </a:blipFill>
          </p:spPr>
        </p:sp>
        <p:sp>
          <p:nvSpPr>
            <p:cNvPr name="Freeform 11" id="11"/>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2" id="12"/>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13" id="13"/>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4" id="14"/>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5" id="15"/>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6" id="16"/>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7" id="17"/>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18" id="18"/>
          <p:cNvSpPr/>
          <p:nvPr/>
        </p:nvSpPr>
        <p:spPr>
          <a:xfrm flipH="false" flipV="false" rot="0">
            <a:off x="1280777" y="996407"/>
            <a:ext cx="464139" cy="514995"/>
          </a:xfrm>
          <a:custGeom>
            <a:avLst/>
            <a:gdLst/>
            <a:ahLst/>
            <a:cxnLst/>
            <a:rect r="r" b="b" t="t" l="l"/>
            <a:pathLst>
              <a:path h="514995" w="464139">
                <a:moveTo>
                  <a:pt x="0" y="0"/>
                </a:moveTo>
                <a:lnTo>
                  <a:pt x="464140" y="0"/>
                </a:lnTo>
                <a:lnTo>
                  <a:pt x="464140" y="514996"/>
                </a:lnTo>
                <a:lnTo>
                  <a:pt x="0" y="5149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a:grpSpLocks noChangeAspect="true"/>
          </p:cNvGrpSpPr>
          <p:nvPr/>
        </p:nvGrpSpPr>
        <p:grpSpPr>
          <a:xfrm rot="0">
            <a:off x="9505426" y="2098934"/>
            <a:ext cx="3971794" cy="7858877"/>
            <a:chOff x="0" y="0"/>
            <a:chExt cx="2620010" cy="5184140"/>
          </a:xfrm>
        </p:grpSpPr>
        <p:sp>
          <p:nvSpPr>
            <p:cNvPr name="Freeform 20" id="20"/>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1" id="21"/>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1273" r="0" b="-1273"/>
              </a:stretch>
            </a:blipFill>
          </p:spPr>
        </p:sp>
        <p:sp>
          <p:nvSpPr>
            <p:cNvPr name="Freeform 22" id="22"/>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3" id="23"/>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24" id="24"/>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5" id="25"/>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6" id="26"/>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7" id="27"/>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8" id="28"/>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Freeform 29" id="29"/>
          <p:cNvSpPr/>
          <p:nvPr/>
        </p:nvSpPr>
        <p:spPr>
          <a:xfrm flipH="false" flipV="false" rot="0">
            <a:off x="1024027" y="859014"/>
            <a:ext cx="808901" cy="789781"/>
          </a:xfrm>
          <a:custGeom>
            <a:avLst/>
            <a:gdLst/>
            <a:ahLst/>
            <a:cxnLst/>
            <a:rect r="r" b="b" t="t" l="l"/>
            <a:pathLst>
              <a:path h="789781" w="808901">
                <a:moveTo>
                  <a:pt x="0" y="0"/>
                </a:moveTo>
                <a:lnTo>
                  <a:pt x="808901" y="0"/>
                </a:lnTo>
                <a:lnTo>
                  <a:pt x="808901" y="789782"/>
                </a:lnTo>
                <a:lnTo>
                  <a:pt x="0" y="789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0" id="30"/>
          <p:cNvSpPr txBox="true"/>
          <p:nvPr/>
        </p:nvSpPr>
        <p:spPr>
          <a:xfrm rot="0">
            <a:off x="1784618" y="2644286"/>
            <a:ext cx="5549061" cy="1111705"/>
          </a:xfrm>
          <a:prstGeom prst="rect">
            <a:avLst/>
          </a:prstGeom>
        </p:spPr>
        <p:txBody>
          <a:bodyPr anchor="t" rtlCol="false" tIns="0" lIns="0" bIns="0" rIns="0">
            <a:spAutoFit/>
          </a:bodyPr>
          <a:lstStyle/>
          <a:p>
            <a:pPr algn="l" marL="0" indent="0" lvl="0">
              <a:lnSpc>
                <a:spcPts val="8024"/>
              </a:lnSpc>
              <a:spcBef>
                <a:spcPct val="0"/>
              </a:spcBef>
            </a:pPr>
            <a:r>
              <a:rPr lang="en-US" b="true" sz="7499">
                <a:solidFill>
                  <a:srgbClr val="F7B8D2"/>
                </a:solidFill>
                <a:latin typeface="Poppins Bold"/>
                <a:ea typeface="Poppins Bold"/>
                <a:cs typeface="Poppins Bold"/>
                <a:sym typeface="Poppins Bold"/>
              </a:rPr>
              <a:t>RESULTS</a:t>
            </a:r>
          </a:p>
        </p:txBody>
      </p:sp>
      <p:sp>
        <p:nvSpPr>
          <p:cNvPr name="TextBox 31" id="31"/>
          <p:cNvSpPr txBox="true"/>
          <p:nvPr/>
        </p:nvSpPr>
        <p:spPr>
          <a:xfrm rot="0">
            <a:off x="1771057" y="3632783"/>
            <a:ext cx="5813361" cy="1111705"/>
          </a:xfrm>
          <a:prstGeom prst="rect">
            <a:avLst/>
          </a:prstGeom>
        </p:spPr>
        <p:txBody>
          <a:bodyPr anchor="t" rtlCol="false" tIns="0" lIns="0" bIns="0" rIns="0">
            <a:spAutoFit/>
          </a:bodyPr>
          <a:lstStyle/>
          <a:p>
            <a:pPr algn="l" marL="0" indent="0" lvl="0">
              <a:lnSpc>
                <a:spcPts val="8024"/>
              </a:lnSpc>
              <a:spcBef>
                <a:spcPct val="0"/>
              </a:spcBef>
            </a:pPr>
            <a:r>
              <a:rPr lang="en-US" b="true" sz="7499">
                <a:solidFill>
                  <a:srgbClr val="2B2A2A"/>
                </a:solidFill>
                <a:latin typeface="Poppins Bold"/>
                <a:ea typeface="Poppins Bold"/>
                <a:cs typeface="Poppins Bold"/>
                <a:sym typeface="Poppins Bold"/>
              </a:rPr>
              <a:t>Overview</a:t>
            </a:r>
          </a:p>
        </p:txBody>
      </p:sp>
      <p:sp>
        <p:nvSpPr>
          <p:cNvPr name="TextBox 32" id="32"/>
          <p:cNvSpPr txBox="true"/>
          <p:nvPr/>
        </p:nvSpPr>
        <p:spPr>
          <a:xfrm rot="0">
            <a:off x="1900893" y="4782209"/>
            <a:ext cx="6396866" cy="4959985"/>
          </a:xfrm>
          <a:prstGeom prst="rect">
            <a:avLst/>
          </a:prstGeom>
        </p:spPr>
        <p:txBody>
          <a:bodyPr anchor="t" rtlCol="false" tIns="0" lIns="0" bIns="0" rIns="0">
            <a:spAutoFit/>
          </a:bodyPr>
          <a:lstStyle/>
          <a:p>
            <a:pPr algn="l" marL="431801" indent="-215900" lvl="1">
              <a:lnSpc>
                <a:spcPts val="3020"/>
              </a:lnSpc>
              <a:buFont typeface="Arial"/>
              <a:buChar char="•"/>
            </a:pPr>
            <a:r>
              <a:rPr lang="en-US" sz="2000">
                <a:solidFill>
                  <a:srgbClr val="2B2A2A"/>
                </a:solidFill>
                <a:latin typeface="Poppins"/>
                <a:ea typeface="Poppins"/>
                <a:cs typeface="Poppins"/>
                <a:sym typeface="Poppins"/>
              </a:rPr>
              <a:t>Grocery items are successfully saved with expiry dates and location tags</a:t>
            </a:r>
          </a:p>
          <a:p>
            <a:pPr algn="l" marL="431801" indent="-215900" lvl="1">
              <a:lnSpc>
                <a:spcPts val="3020"/>
              </a:lnSpc>
              <a:buFont typeface="Arial"/>
              <a:buChar char="•"/>
            </a:pPr>
            <a:r>
              <a:rPr lang="en-US" sz="2000">
                <a:solidFill>
                  <a:srgbClr val="2B2A2A"/>
                </a:solidFill>
                <a:latin typeface="Poppins"/>
                <a:ea typeface="Poppins"/>
                <a:cs typeface="Poppins"/>
                <a:sym typeface="Poppins"/>
              </a:rPr>
              <a:t>Notifications are triggered one day before item expiry as intended</a:t>
            </a:r>
          </a:p>
          <a:p>
            <a:pPr algn="l" marL="431801" indent="-215900" lvl="1">
              <a:lnSpc>
                <a:spcPts val="3020"/>
              </a:lnSpc>
              <a:buFont typeface="Arial"/>
              <a:buChar char="•"/>
            </a:pPr>
            <a:r>
              <a:rPr lang="en-US" sz="2000">
                <a:solidFill>
                  <a:srgbClr val="2B2A2A"/>
                </a:solidFill>
                <a:latin typeface="Poppins"/>
                <a:ea typeface="Poppins"/>
                <a:cs typeface="Poppins"/>
                <a:sym typeface="Poppins"/>
              </a:rPr>
              <a:t>WhatsApp and SMS reminders are functioning correctly</a:t>
            </a:r>
          </a:p>
          <a:p>
            <a:pPr algn="l" marL="431801" indent="-215900" lvl="1">
              <a:lnSpc>
                <a:spcPts val="3020"/>
              </a:lnSpc>
              <a:buFont typeface="Arial"/>
              <a:buChar char="•"/>
            </a:pPr>
            <a:r>
              <a:rPr lang="en-US" sz="2000">
                <a:solidFill>
                  <a:srgbClr val="2B2A2A"/>
                </a:solidFill>
                <a:latin typeface="Poppins"/>
                <a:ea typeface="Poppins"/>
                <a:cs typeface="Poppins"/>
                <a:sym typeface="Poppins"/>
              </a:rPr>
              <a:t>Camera integration captures and stores item images accurately</a:t>
            </a:r>
          </a:p>
          <a:p>
            <a:pPr algn="l" marL="431801" indent="-215900" lvl="1">
              <a:lnSpc>
                <a:spcPts val="3020"/>
              </a:lnSpc>
              <a:buFont typeface="Arial"/>
              <a:buChar char="•"/>
            </a:pPr>
            <a:r>
              <a:rPr lang="en-US" sz="2000">
                <a:solidFill>
                  <a:srgbClr val="2B2A2A"/>
                </a:solidFill>
                <a:latin typeface="Poppins"/>
                <a:ea typeface="Poppins"/>
                <a:cs typeface="Poppins"/>
                <a:sym typeface="Poppins"/>
              </a:rPr>
              <a:t>Map integration displays user location and nearby grocery stores</a:t>
            </a:r>
          </a:p>
          <a:p>
            <a:pPr algn="l" marL="431801" indent="-215900" lvl="1">
              <a:lnSpc>
                <a:spcPts val="3020"/>
              </a:lnSpc>
              <a:buFont typeface="Arial"/>
              <a:buChar char="•"/>
            </a:pPr>
            <a:r>
              <a:rPr lang="en-US" sz="2000">
                <a:solidFill>
                  <a:srgbClr val="2B2A2A"/>
                </a:solidFill>
                <a:latin typeface="Poppins"/>
                <a:ea typeface="Poppins"/>
                <a:cs typeface="Poppins"/>
                <a:sym typeface="Poppins"/>
              </a:rPr>
              <a:t>Application tested across multiple devices with smooth performance and responsive UI</a:t>
            </a:r>
          </a:p>
          <a:p>
            <a:pPr algn="l" marL="0" indent="0" lvl="0">
              <a:lnSpc>
                <a:spcPts val="3020"/>
              </a:lnSpc>
            </a:pPr>
          </a:p>
        </p:txBody>
      </p:sp>
      <p:sp>
        <p:nvSpPr>
          <p:cNvPr name="TextBox 33" id="33"/>
          <p:cNvSpPr txBox="true"/>
          <p:nvPr/>
        </p:nvSpPr>
        <p:spPr>
          <a:xfrm rot="0">
            <a:off x="1900893" y="996407"/>
            <a:ext cx="1930226" cy="324836"/>
          </a:xfrm>
          <a:prstGeom prst="rect">
            <a:avLst/>
          </a:prstGeom>
        </p:spPr>
        <p:txBody>
          <a:bodyPr anchor="t" rtlCol="false" tIns="0" lIns="0" bIns="0" rIns="0">
            <a:spAutoFit/>
          </a:bodyPr>
          <a:lstStyle/>
          <a:p>
            <a:pPr algn="l">
              <a:lnSpc>
                <a:spcPts val="2301"/>
              </a:lnSpc>
            </a:pPr>
            <a:r>
              <a:rPr lang="en-US" sz="2150" b="true">
                <a:solidFill>
                  <a:srgbClr val="2B2A2A"/>
                </a:solidFill>
                <a:latin typeface="Poppins Bold"/>
                <a:ea typeface="Poppins Bold"/>
                <a:cs typeface="Poppins Bold"/>
                <a:sym typeface="Poppins Bold"/>
              </a:rPr>
              <a:t>SHOP SMART</a:t>
            </a:r>
          </a:p>
        </p:txBody>
      </p:sp>
      <p:sp>
        <p:nvSpPr>
          <p:cNvPr name="TextBox 34" id="34"/>
          <p:cNvSpPr txBox="true"/>
          <p:nvPr/>
        </p:nvSpPr>
        <p:spPr>
          <a:xfrm rot="0">
            <a:off x="1900893" y="1332894"/>
            <a:ext cx="1773118" cy="178509"/>
          </a:xfrm>
          <a:prstGeom prst="rect">
            <a:avLst/>
          </a:prstGeom>
        </p:spPr>
        <p:txBody>
          <a:bodyPr anchor="t" rtlCol="false" tIns="0" lIns="0" bIns="0" rIns="0">
            <a:spAutoFit/>
          </a:bodyPr>
          <a:lstStyle/>
          <a:p>
            <a:pPr algn="l">
              <a:lnSpc>
                <a:spcPts val="1352"/>
              </a:lnSpc>
            </a:pPr>
            <a:r>
              <a:rPr lang="en-US" sz="1263">
                <a:solidFill>
                  <a:srgbClr val="2B2A2A"/>
                </a:solidFill>
                <a:latin typeface="Poppins"/>
                <a:ea typeface="Poppins"/>
                <a:cs typeface="Poppins"/>
                <a:sym typeface="Poppins"/>
              </a:rPr>
              <a:t>EXPIRY TRACKER</a:t>
            </a:r>
          </a:p>
        </p:txBody>
      </p:sp>
      <p:grpSp>
        <p:nvGrpSpPr>
          <p:cNvPr name="Group 35" id="35"/>
          <p:cNvGrpSpPr/>
          <p:nvPr/>
        </p:nvGrpSpPr>
        <p:grpSpPr>
          <a:xfrm rot="0">
            <a:off x="15312183" y="1089146"/>
            <a:ext cx="1551389" cy="422257"/>
            <a:chOff x="0" y="0"/>
            <a:chExt cx="531257" cy="144598"/>
          </a:xfrm>
        </p:grpSpPr>
        <p:sp>
          <p:nvSpPr>
            <p:cNvPr name="Freeform 36" id="36"/>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F7B8D2"/>
            </a:solidFill>
            <a:ln cap="sq">
              <a:noFill/>
              <a:prstDash val="solid"/>
              <a:miter/>
            </a:ln>
          </p:spPr>
        </p:sp>
        <p:sp>
          <p:nvSpPr>
            <p:cNvPr name="TextBox 37" id="37"/>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38" id="38"/>
          <p:cNvSpPr txBox="true"/>
          <p:nvPr/>
        </p:nvSpPr>
        <p:spPr>
          <a:xfrm rot="0">
            <a:off x="9266239"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39" id="39"/>
          <p:cNvSpPr txBox="true"/>
          <p:nvPr/>
        </p:nvSpPr>
        <p:spPr>
          <a:xfrm rot="0">
            <a:off x="11069482"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40" id="40"/>
          <p:cNvSpPr txBox="true"/>
          <p:nvPr/>
        </p:nvSpPr>
        <p:spPr>
          <a:xfrm rot="0">
            <a:off x="13244465"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41" id="41"/>
          <p:cNvSpPr txBox="true"/>
          <p:nvPr/>
        </p:nvSpPr>
        <p:spPr>
          <a:xfrm rot="0">
            <a:off x="15447217" y="1066711"/>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Features</a:t>
            </a:r>
          </a:p>
        </p:txBody>
      </p:sp>
      <p:sp>
        <p:nvSpPr>
          <p:cNvPr name="TextBox 42" id="42"/>
          <p:cNvSpPr txBox="true"/>
          <p:nvPr/>
        </p:nvSpPr>
        <p:spPr>
          <a:xfrm rot="0">
            <a:off x="16961780" y="1032068"/>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28700" y="1996907"/>
            <a:ext cx="3180511" cy="6293187"/>
            <a:chOff x="0" y="0"/>
            <a:chExt cx="2620010" cy="5184140"/>
          </a:xfrm>
        </p:grpSpPr>
        <p:sp>
          <p:nvSpPr>
            <p:cNvPr name="Freeform 3" id="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 id="4"/>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0" t="-1273" r="0" b="-1273"/>
              </a:stretch>
            </a:blipFill>
          </p:spPr>
        </p:sp>
        <p:sp>
          <p:nvSpPr>
            <p:cNvPr name="Freeform 5" id="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6" id="6"/>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7" id="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8" id="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9" id="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10" id="1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11" id="1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12" id="12"/>
          <p:cNvGrpSpPr>
            <a:grpSpLocks noChangeAspect="true"/>
          </p:cNvGrpSpPr>
          <p:nvPr/>
        </p:nvGrpSpPr>
        <p:grpSpPr>
          <a:xfrm rot="0">
            <a:off x="4433646" y="1872494"/>
            <a:ext cx="3180511" cy="6293187"/>
            <a:chOff x="0" y="0"/>
            <a:chExt cx="2620010" cy="5184140"/>
          </a:xfrm>
        </p:grpSpPr>
        <p:sp>
          <p:nvSpPr>
            <p:cNvPr name="Freeform 13" id="1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4" id="14"/>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0" t="-1273" r="0" b="-1273"/>
              </a:stretch>
            </a:blipFill>
          </p:spPr>
        </p:sp>
        <p:sp>
          <p:nvSpPr>
            <p:cNvPr name="Freeform 15" id="1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16" id="16"/>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17" id="1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18" id="1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19" id="1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0" id="2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1" id="2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22" id="22"/>
          <p:cNvGrpSpPr>
            <a:grpSpLocks noChangeAspect="true"/>
          </p:cNvGrpSpPr>
          <p:nvPr/>
        </p:nvGrpSpPr>
        <p:grpSpPr>
          <a:xfrm rot="0">
            <a:off x="7859447" y="1872494"/>
            <a:ext cx="3180511" cy="6293187"/>
            <a:chOff x="0" y="0"/>
            <a:chExt cx="2620010" cy="5184140"/>
          </a:xfrm>
        </p:grpSpPr>
        <p:sp>
          <p:nvSpPr>
            <p:cNvPr name="Freeform 23" id="2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4" id="24"/>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1273" r="0" b="-1273"/>
              </a:stretch>
            </a:blipFill>
          </p:spPr>
        </p:sp>
        <p:sp>
          <p:nvSpPr>
            <p:cNvPr name="Freeform 25" id="2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6" id="26"/>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27" id="2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8" id="2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9" id="2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30" id="3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31" id="3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2" id="32"/>
          <p:cNvGrpSpPr>
            <a:grpSpLocks noChangeAspect="true"/>
          </p:cNvGrpSpPr>
          <p:nvPr/>
        </p:nvGrpSpPr>
        <p:grpSpPr>
          <a:xfrm rot="0">
            <a:off x="11268558" y="1872494"/>
            <a:ext cx="3180511" cy="6293187"/>
            <a:chOff x="0" y="0"/>
            <a:chExt cx="2620010" cy="5184140"/>
          </a:xfrm>
        </p:grpSpPr>
        <p:sp>
          <p:nvSpPr>
            <p:cNvPr name="Freeform 33" id="3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34" id="34"/>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0" t="-1273" r="0" b="-1273"/>
              </a:stretch>
            </a:blipFill>
          </p:spPr>
        </p:sp>
        <p:sp>
          <p:nvSpPr>
            <p:cNvPr name="Freeform 35" id="3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36" id="36"/>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37" id="3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38" id="3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39" id="3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40" id="4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41" id="4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42" id="42"/>
          <p:cNvGrpSpPr>
            <a:grpSpLocks noChangeAspect="true"/>
          </p:cNvGrpSpPr>
          <p:nvPr/>
        </p:nvGrpSpPr>
        <p:grpSpPr>
          <a:xfrm rot="0">
            <a:off x="14664189" y="1872494"/>
            <a:ext cx="3180511" cy="6293187"/>
            <a:chOff x="0" y="0"/>
            <a:chExt cx="2620010" cy="5184140"/>
          </a:xfrm>
        </p:grpSpPr>
        <p:sp>
          <p:nvSpPr>
            <p:cNvPr name="Freeform 43" id="43"/>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44" id="44"/>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0" t="-1273" r="0" b="-1273"/>
              </a:stretch>
            </a:blipFill>
          </p:spPr>
        </p:sp>
        <p:sp>
          <p:nvSpPr>
            <p:cNvPr name="Freeform 45" id="45"/>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46" id="46"/>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47" id="47"/>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48" id="48"/>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49" id="49"/>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50" id="50"/>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51" id="51"/>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name="TextBox 52" id="52"/>
          <p:cNvSpPr txBox="true"/>
          <p:nvPr/>
        </p:nvSpPr>
        <p:spPr>
          <a:xfrm rot="0">
            <a:off x="1900893" y="996407"/>
            <a:ext cx="1930226" cy="324836"/>
          </a:xfrm>
          <a:prstGeom prst="rect">
            <a:avLst/>
          </a:prstGeom>
        </p:spPr>
        <p:txBody>
          <a:bodyPr anchor="t" rtlCol="false" tIns="0" lIns="0" bIns="0" rIns="0">
            <a:spAutoFit/>
          </a:bodyPr>
          <a:lstStyle/>
          <a:p>
            <a:pPr algn="l">
              <a:lnSpc>
                <a:spcPts val="2301"/>
              </a:lnSpc>
            </a:pPr>
            <a:r>
              <a:rPr lang="en-US" sz="2150" b="true">
                <a:solidFill>
                  <a:srgbClr val="2B2A2A"/>
                </a:solidFill>
                <a:latin typeface="Poppins Bold"/>
                <a:ea typeface="Poppins Bold"/>
                <a:cs typeface="Poppins Bold"/>
                <a:sym typeface="Poppins Bold"/>
              </a:rPr>
              <a:t>SHOP SMART</a:t>
            </a:r>
          </a:p>
        </p:txBody>
      </p:sp>
      <p:sp>
        <p:nvSpPr>
          <p:cNvPr name="TextBox 53" id="53"/>
          <p:cNvSpPr txBox="true"/>
          <p:nvPr/>
        </p:nvSpPr>
        <p:spPr>
          <a:xfrm rot="0">
            <a:off x="1900893" y="1332894"/>
            <a:ext cx="1930226" cy="178509"/>
          </a:xfrm>
          <a:prstGeom prst="rect">
            <a:avLst/>
          </a:prstGeom>
        </p:spPr>
        <p:txBody>
          <a:bodyPr anchor="t" rtlCol="false" tIns="0" lIns="0" bIns="0" rIns="0">
            <a:spAutoFit/>
          </a:bodyPr>
          <a:lstStyle/>
          <a:p>
            <a:pPr algn="l">
              <a:lnSpc>
                <a:spcPts val="1352"/>
              </a:lnSpc>
            </a:pPr>
            <a:r>
              <a:rPr lang="en-US" sz="1263">
                <a:solidFill>
                  <a:srgbClr val="2B2A2A"/>
                </a:solidFill>
                <a:latin typeface="Poppins"/>
                <a:ea typeface="Poppins"/>
                <a:cs typeface="Poppins"/>
                <a:sym typeface="Poppins"/>
              </a:rPr>
              <a:t>EXPENCE TRACKER</a:t>
            </a:r>
          </a:p>
        </p:txBody>
      </p:sp>
      <p:sp>
        <p:nvSpPr>
          <p:cNvPr name="Freeform 54" id="54"/>
          <p:cNvSpPr/>
          <p:nvPr/>
        </p:nvSpPr>
        <p:spPr>
          <a:xfrm flipH="false" flipV="false" rot="0">
            <a:off x="1024027" y="859014"/>
            <a:ext cx="808901" cy="789781"/>
          </a:xfrm>
          <a:custGeom>
            <a:avLst/>
            <a:gdLst/>
            <a:ahLst/>
            <a:cxnLst/>
            <a:rect r="r" b="b" t="t" l="l"/>
            <a:pathLst>
              <a:path h="789781" w="808901">
                <a:moveTo>
                  <a:pt x="0" y="0"/>
                </a:moveTo>
                <a:lnTo>
                  <a:pt x="808901" y="0"/>
                </a:lnTo>
                <a:lnTo>
                  <a:pt x="808901" y="789782"/>
                </a:lnTo>
                <a:lnTo>
                  <a:pt x="0" y="7897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5" id="55"/>
          <p:cNvGrpSpPr/>
          <p:nvPr/>
        </p:nvGrpSpPr>
        <p:grpSpPr>
          <a:xfrm rot="0">
            <a:off x="16961780" y="1107142"/>
            <a:ext cx="1281321" cy="293525"/>
            <a:chOff x="0" y="0"/>
            <a:chExt cx="438775" cy="100515"/>
          </a:xfrm>
        </p:grpSpPr>
        <p:sp>
          <p:nvSpPr>
            <p:cNvPr name="Freeform 56" id="56"/>
            <p:cNvSpPr/>
            <p:nvPr/>
          </p:nvSpPr>
          <p:spPr>
            <a:xfrm flipH="false" flipV="false" rot="0">
              <a:off x="0" y="0"/>
              <a:ext cx="438775" cy="100515"/>
            </a:xfrm>
            <a:custGeom>
              <a:avLst/>
              <a:gdLst/>
              <a:ahLst/>
              <a:cxnLst/>
              <a:rect r="r" b="b" t="t" l="l"/>
              <a:pathLst>
                <a:path h="100515" w="438775">
                  <a:moveTo>
                    <a:pt x="50257" y="0"/>
                  </a:moveTo>
                  <a:lnTo>
                    <a:pt x="388518" y="0"/>
                  </a:lnTo>
                  <a:cubicBezTo>
                    <a:pt x="401847" y="0"/>
                    <a:pt x="414630" y="5295"/>
                    <a:pt x="424055" y="14720"/>
                  </a:cubicBezTo>
                  <a:cubicBezTo>
                    <a:pt x="433480" y="24145"/>
                    <a:pt x="438775" y="36928"/>
                    <a:pt x="438775" y="50257"/>
                  </a:cubicBezTo>
                  <a:lnTo>
                    <a:pt x="438775" y="50257"/>
                  </a:lnTo>
                  <a:cubicBezTo>
                    <a:pt x="438775" y="63586"/>
                    <a:pt x="433480" y="76370"/>
                    <a:pt x="424055" y="85795"/>
                  </a:cubicBezTo>
                  <a:cubicBezTo>
                    <a:pt x="414630" y="95220"/>
                    <a:pt x="401847" y="100515"/>
                    <a:pt x="388518" y="100515"/>
                  </a:cubicBezTo>
                  <a:lnTo>
                    <a:pt x="50257" y="100515"/>
                  </a:lnTo>
                  <a:cubicBezTo>
                    <a:pt x="36928" y="100515"/>
                    <a:pt x="24145" y="95220"/>
                    <a:pt x="14720" y="85795"/>
                  </a:cubicBezTo>
                  <a:cubicBezTo>
                    <a:pt x="5295" y="76370"/>
                    <a:pt x="0" y="63586"/>
                    <a:pt x="0" y="50257"/>
                  </a:cubicBezTo>
                  <a:lnTo>
                    <a:pt x="0" y="50257"/>
                  </a:lnTo>
                  <a:cubicBezTo>
                    <a:pt x="0" y="36928"/>
                    <a:pt x="5295" y="24145"/>
                    <a:pt x="14720" y="14720"/>
                  </a:cubicBezTo>
                  <a:cubicBezTo>
                    <a:pt x="24145" y="5295"/>
                    <a:pt x="36928" y="0"/>
                    <a:pt x="50257" y="0"/>
                  </a:cubicBezTo>
                  <a:close/>
                </a:path>
              </a:pathLst>
            </a:custGeom>
            <a:solidFill>
              <a:srgbClr val="F7B8D2"/>
            </a:solidFill>
            <a:ln cap="sq">
              <a:noFill/>
              <a:prstDash val="solid"/>
              <a:miter/>
            </a:ln>
          </p:spPr>
        </p:sp>
        <p:sp>
          <p:nvSpPr>
            <p:cNvPr name="TextBox 57" id="57"/>
            <p:cNvSpPr txBox="true"/>
            <p:nvPr/>
          </p:nvSpPr>
          <p:spPr>
            <a:xfrm>
              <a:off x="0" y="-57150"/>
              <a:ext cx="438775" cy="157665"/>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58" id="58"/>
          <p:cNvSpPr txBox="true"/>
          <p:nvPr/>
        </p:nvSpPr>
        <p:spPr>
          <a:xfrm rot="0">
            <a:off x="9266239"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59" id="59"/>
          <p:cNvSpPr txBox="true"/>
          <p:nvPr/>
        </p:nvSpPr>
        <p:spPr>
          <a:xfrm rot="0">
            <a:off x="11069482"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60" id="60"/>
          <p:cNvSpPr txBox="true"/>
          <p:nvPr/>
        </p:nvSpPr>
        <p:spPr>
          <a:xfrm rot="0">
            <a:off x="13244465"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61" id="61"/>
          <p:cNvSpPr txBox="true"/>
          <p:nvPr/>
        </p:nvSpPr>
        <p:spPr>
          <a:xfrm rot="0">
            <a:off x="15447217" y="1066711"/>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Features</a:t>
            </a:r>
          </a:p>
        </p:txBody>
      </p:sp>
      <p:sp>
        <p:nvSpPr>
          <p:cNvPr name="TextBox 62" id="62"/>
          <p:cNvSpPr txBox="true"/>
          <p:nvPr/>
        </p:nvSpPr>
        <p:spPr>
          <a:xfrm rot="0">
            <a:off x="16961780" y="1049405"/>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68CE4"/>
        </a:solidFill>
      </p:bgPr>
    </p:bg>
    <p:spTree>
      <p:nvGrpSpPr>
        <p:cNvPr id="1" name=""/>
        <p:cNvGrpSpPr/>
        <p:nvPr/>
      </p:nvGrpSpPr>
      <p:grpSpPr>
        <a:xfrm>
          <a:off x="0" y="0"/>
          <a:ext cx="0" cy="0"/>
          <a:chOff x="0" y="0"/>
          <a:chExt cx="0" cy="0"/>
        </a:xfrm>
      </p:grpSpPr>
      <p:grpSp>
        <p:nvGrpSpPr>
          <p:cNvPr name="Group 2" id="2"/>
          <p:cNvGrpSpPr/>
          <p:nvPr/>
        </p:nvGrpSpPr>
        <p:grpSpPr>
          <a:xfrm rot="524141">
            <a:off x="-720571" y="-1702946"/>
            <a:ext cx="4544240" cy="5877852"/>
            <a:chOff x="0" y="0"/>
            <a:chExt cx="665246" cy="860478"/>
          </a:xfrm>
        </p:grpSpPr>
        <p:sp>
          <p:nvSpPr>
            <p:cNvPr name="Freeform 3" id="3"/>
            <p:cNvSpPr/>
            <p:nvPr/>
          </p:nvSpPr>
          <p:spPr>
            <a:xfrm flipH="false" flipV="false" rot="0">
              <a:off x="0" y="0"/>
              <a:ext cx="665246" cy="860478"/>
            </a:xfrm>
            <a:custGeom>
              <a:avLst/>
              <a:gdLst/>
              <a:ahLst/>
              <a:cxnLst/>
              <a:rect r="r" b="b" t="t" l="l"/>
              <a:pathLst>
                <a:path h="860478" w="665246">
                  <a:moveTo>
                    <a:pt x="115850" y="0"/>
                  </a:moveTo>
                  <a:lnTo>
                    <a:pt x="549396" y="0"/>
                  </a:lnTo>
                  <a:cubicBezTo>
                    <a:pt x="580122" y="0"/>
                    <a:pt x="609588" y="12206"/>
                    <a:pt x="631315" y="33932"/>
                  </a:cubicBezTo>
                  <a:cubicBezTo>
                    <a:pt x="653041" y="55658"/>
                    <a:pt x="665246" y="85125"/>
                    <a:pt x="665246" y="115850"/>
                  </a:cubicBezTo>
                  <a:lnTo>
                    <a:pt x="665246" y="744628"/>
                  </a:lnTo>
                  <a:cubicBezTo>
                    <a:pt x="665246" y="808610"/>
                    <a:pt x="613378" y="860478"/>
                    <a:pt x="549396" y="860478"/>
                  </a:cubicBezTo>
                  <a:lnTo>
                    <a:pt x="115850" y="860478"/>
                  </a:lnTo>
                  <a:cubicBezTo>
                    <a:pt x="51868" y="860478"/>
                    <a:pt x="0" y="808610"/>
                    <a:pt x="0" y="744628"/>
                  </a:cubicBezTo>
                  <a:lnTo>
                    <a:pt x="0" y="115850"/>
                  </a:lnTo>
                  <a:cubicBezTo>
                    <a:pt x="0" y="51868"/>
                    <a:pt x="51868" y="0"/>
                    <a:pt x="115850" y="0"/>
                  </a:cubicBezTo>
                  <a:close/>
                </a:path>
              </a:pathLst>
            </a:custGeom>
            <a:solidFill>
              <a:srgbClr val="8981DF"/>
            </a:solidFill>
          </p:spPr>
        </p:sp>
        <p:sp>
          <p:nvSpPr>
            <p:cNvPr name="TextBox 4" id="4"/>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24141">
            <a:off x="13605760" y="6855137"/>
            <a:ext cx="7307079" cy="9451509"/>
            <a:chOff x="0" y="0"/>
            <a:chExt cx="665246" cy="860478"/>
          </a:xfrm>
        </p:grpSpPr>
        <p:sp>
          <p:nvSpPr>
            <p:cNvPr name="Freeform 6" id="6"/>
            <p:cNvSpPr/>
            <p:nvPr/>
          </p:nvSpPr>
          <p:spPr>
            <a:xfrm flipH="false" flipV="false" rot="0">
              <a:off x="0" y="0"/>
              <a:ext cx="665246" cy="860478"/>
            </a:xfrm>
            <a:custGeom>
              <a:avLst/>
              <a:gdLst/>
              <a:ahLst/>
              <a:cxnLst/>
              <a:rect r="r" b="b" t="t" l="l"/>
              <a:pathLst>
                <a:path h="860478" w="665246">
                  <a:moveTo>
                    <a:pt x="72047" y="0"/>
                  </a:moveTo>
                  <a:lnTo>
                    <a:pt x="593200" y="0"/>
                  </a:lnTo>
                  <a:cubicBezTo>
                    <a:pt x="612308" y="0"/>
                    <a:pt x="630633" y="7591"/>
                    <a:pt x="644144" y="21102"/>
                  </a:cubicBezTo>
                  <a:cubicBezTo>
                    <a:pt x="657656" y="34613"/>
                    <a:pt x="665246" y="52939"/>
                    <a:pt x="665246" y="72047"/>
                  </a:cubicBezTo>
                  <a:lnTo>
                    <a:pt x="665246" y="788431"/>
                  </a:lnTo>
                  <a:cubicBezTo>
                    <a:pt x="665246" y="807539"/>
                    <a:pt x="657656" y="825865"/>
                    <a:pt x="644144" y="839376"/>
                  </a:cubicBezTo>
                  <a:cubicBezTo>
                    <a:pt x="630633" y="852887"/>
                    <a:pt x="612308" y="860478"/>
                    <a:pt x="593200" y="860478"/>
                  </a:cubicBezTo>
                  <a:lnTo>
                    <a:pt x="72047" y="860478"/>
                  </a:lnTo>
                  <a:cubicBezTo>
                    <a:pt x="52939" y="860478"/>
                    <a:pt x="34613" y="852887"/>
                    <a:pt x="21102" y="839376"/>
                  </a:cubicBezTo>
                  <a:cubicBezTo>
                    <a:pt x="7591" y="825865"/>
                    <a:pt x="0" y="807539"/>
                    <a:pt x="0" y="788431"/>
                  </a:cubicBezTo>
                  <a:lnTo>
                    <a:pt x="0" y="72047"/>
                  </a:lnTo>
                  <a:cubicBezTo>
                    <a:pt x="0" y="52939"/>
                    <a:pt x="7591" y="34613"/>
                    <a:pt x="21102" y="21102"/>
                  </a:cubicBezTo>
                  <a:cubicBezTo>
                    <a:pt x="34613" y="7591"/>
                    <a:pt x="52939" y="0"/>
                    <a:pt x="72047" y="0"/>
                  </a:cubicBezTo>
                  <a:close/>
                </a:path>
              </a:pathLst>
            </a:custGeom>
            <a:solidFill>
              <a:srgbClr val="8981DF"/>
            </a:solidFill>
          </p:spPr>
        </p:sp>
        <p:sp>
          <p:nvSpPr>
            <p:cNvPr name="TextBox 7" id="7"/>
            <p:cNvSpPr txBox="true"/>
            <p:nvPr/>
          </p:nvSpPr>
          <p:spPr>
            <a:xfrm>
              <a:off x="0" y="-38100"/>
              <a:ext cx="665246" cy="89857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600950" y="3600450"/>
            <a:ext cx="9059728" cy="4049588"/>
            <a:chOff x="0" y="0"/>
            <a:chExt cx="2386101" cy="1066558"/>
          </a:xfrm>
        </p:grpSpPr>
        <p:sp>
          <p:nvSpPr>
            <p:cNvPr name="Freeform 9" id="9"/>
            <p:cNvSpPr/>
            <p:nvPr/>
          </p:nvSpPr>
          <p:spPr>
            <a:xfrm flipH="false" flipV="false" rot="0">
              <a:off x="0" y="0"/>
              <a:ext cx="2386101" cy="1066558"/>
            </a:xfrm>
            <a:custGeom>
              <a:avLst/>
              <a:gdLst/>
              <a:ahLst/>
              <a:cxnLst/>
              <a:rect r="r" b="b" t="t" l="l"/>
              <a:pathLst>
                <a:path h="1066558" w="2386101">
                  <a:moveTo>
                    <a:pt x="24782" y="0"/>
                  </a:moveTo>
                  <a:lnTo>
                    <a:pt x="2361320" y="0"/>
                  </a:lnTo>
                  <a:cubicBezTo>
                    <a:pt x="2367892" y="0"/>
                    <a:pt x="2374195" y="2611"/>
                    <a:pt x="2378843" y="7258"/>
                  </a:cubicBezTo>
                  <a:cubicBezTo>
                    <a:pt x="2383490" y="11906"/>
                    <a:pt x="2386101" y="18209"/>
                    <a:pt x="2386101" y="24782"/>
                  </a:cubicBezTo>
                  <a:lnTo>
                    <a:pt x="2386101" y="1041777"/>
                  </a:lnTo>
                  <a:cubicBezTo>
                    <a:pt x="2386101" y="1048349"/>
                    <a:pt x="2383490" y="1054652"/>
                    <a:pt x="2378843" y="1059300"/>
                  </a:cubicBezTo>
                  <a:cubicBezTo>
                    <a:pt x="2374195" y="1063947"/>
                    <a:pt x="2367892" y="1066558"/>
                    <a:pt x="2361320" y="1066558"/>
                  </a:cubicBezTo>
                  <a:lnTo>
                    <a:pt x="24782" y="1066558"/>
                  </a:lnTo>
                  <a:cubicBezTo>
                    <a:pt x="18209" y="1066558"/>
                    <a:pt x="11906" y="1063947"/>
                    <a:pt x="7258" y="1059300"/>
                  </a:cubicBezTo>
                  <a:cubicBezTo>
                    <a:pt x="2611" y="1054652"/>
                    <a:pt x="0" y="1048349"/>
                    <a:pt x="0" y="1041777"/>
                  </a:cubicBezTo>
                  <a:lnTo>
                    <a:pt x="0" y="24782"/>
                  </a:lnTo>
                  <a:cubicBezTo>
                    <a:pt x="0" y="18209"/>
                    <a:pt x="2611" y="11906"/>
                    <a:pt x="7258" y="7258"/>
                  </a:cubicBezTo>
                  <a:cubicBezTo>
                    <a:pt x="11906" y="2611"/>
                    <a:pt x="18209" y="0"/>
                    <a:pt x="24782" y="0"/>
                  </a:cubicBezTo>
                  <a:close/>
                </a:path>
              </a:pathLst>
            </a:custGeom>
            <a:solidFill>
              <a:srgbClr val="FFFFFF"/>
            </a:solidFill>
          </p:spPr>
        </p:sp>
        <p:sp>
          <p:nvSpPr>
            <p:cNvPr name="TextBox 10" id="10"/>
            <p:cNvSpPr txBox="true"/>
            <p:nvPr/>
          </p:nvSpPr>
          <p:spPr>
            <a:xfrm>
              <a:off x="0" y="-57150"/>
              <a:ext cx="2386101" cy="1123708"/>
            </a:xfrm>
            <a:prstGeom prst="rect">
              <a:avLst/>
            </a:prstGeom>
          </p:spPr>
          <p:txBody>
            <a:bodyPr anchor="ctr" rtlCol="false" tIns="50800" lIns="50800" bIns="50800" rIns="50800"/>
            <a:lstStyle/>
            <a:p>
              <a:pPr algn="ctr">
                <a:lnSpc>
                  <a:spcPts val="2753"/>
                </a:lnSpc>
              </a:pPr>
            </a:p>
          </p:txBody>
        </p:sp>
      </p:grpSp>
      <p:grpSp>
        <p:nvGrpSpPr>
          <p:cNvPr name="Group 11" id="11"/>
          <p:cNvGrpSpPr/>
          <p:nvPr/>
        </p:nvGrpSpPr>
        <p:grpSpPr>
          <a:xfrm rot="0">
            <a:off x="9366745" y="7301269"/>
            <a:ext cx="4249157" cy="697540"/>
            <a:chOff x="0" y="0"/>
            <a:chExt cx="1455080" cy="238865"/>
          </a:xfrm>
        </p:grpSpPr>
        <p:sp>
          <p:nvSpPr>
            <p:cNvPr name="Freeform 12" id="12"/>
            <p:cNvSpPr/>
            <p:nvPr/>
          </p:nvSpPr>
          <p:spPr>
            <a:xfrm flipH="false" flipV="false" rot="0">
              <a:off x="0" y="0"/>
              <a:ext cx="1455080" cy="238865"/>
            </a:xfrm>
            <a:custGeom>
              <a:avLst/>
              <a:gdLst/>
              <a:ahLst/>
              <a:cxnLst/>
              <a:rect r="r" b="b" t="t" l="l"/>
              <a:pathLst>
                <a:path h="238865" w="1455080">
                  <a:moveTo>
                    <a:pt x="119433" y="0"/>
                  </a:moveTo>
                  <a:lnTo>
                    <a:pt x="1335647" y="0"/>
                  </a:lnTo>
                  <a:cubicBezTo>
                    <a:pt x="1367323" y="0"/>
                    <a:pt x="1397701" y="12583"/>
                    <a:pt x="1420099" y="34981"/>
                  </a:cubicBezTo>
                  <a:cubicBezTo>
                    <a:pt x="1442497" y="57379"/>
                    <a:pt x="1455080" y="87757"/>
                    <a:pt x="1455080" y="119433"/>
                  </a:cubicBezTo>
                  <a:lnTo>
                    <a:pt x="1455080" y="119433"/>
                  </a:lnTo>
                  <a:cubicBezTo>
                    <a:pt x="1455080" y="185393"/>
                    <a:pt x="1401608" y="238865"/>
                    <a:pt x="1335647" y="238865"/>
                  </a:cubicBezTo>
                  <a:lnTo>
                    <a:pt x="119433" y="238865"/>
                  </a:lnTo>
                  <a:cubicBezTo>
                    <a:pt x="53472" y="238865"/>
                    <a:pt x="0" y="185393"/>
                    <a:pt x="0" y="119433"/>
                  </a:cubicBezTo>
                  <a:lnTo>
                    <a:pt x="0" y="119433"/>
                  </a:lnTo>
                  <a:cubicBezTo>
                    <a:pt x="0" y="53472"/>
                    <a:pt x="53472" y="0"/>
                    <a:pt x="119433" y="0"/>
                  </a:cubicBezTo>
                  <a:close/>
                </a:path>
              </a:pathLst>
            </a:custGeom>
            <a:solidFill>
              <a:srgbClr val="F7B8D2"/>
            </a:solidFill>
            <a:ln cap="rnd">
              <a:noFill/>
              <a:prstDash val="solid"/>
              <a:round/>
            </a:ln>
          </p:spPr>
        </p:sp>
        <p:sp>
          <p:nvSpPr>
            <p:cNvPr name="TextBox 13" id="13"/>
            <p:cNvSpPr txBox="true"/>
            <p:nvPr/>
          </p:nvSpPr>
          <p:spPr>
            <a:xfrm>
              <a:off x="0" y="-57150"/>
              <a:ext cx="1455080" cy="296015"/>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4" id="14"/>
          <p:cNvSpPr txBox="true"/>
          <p:nvPr/>
        </p:nvSpPr>
        <p:spPr>
          <a:xfrm rot="0">
            <a:off x="9750969" y="7446126"/>
            <a:ext cx="3480709"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SHOP SMART</a:t>
            </a:r>
          </a:p>
        </p:txBody>
      </p:sp>
      <p:sp>
        <p:nvSpPr>
          <p:cNvPr name="TextBox 15" id="15"/>
          <p:cNvSpPr txBox="true"/>
          <p:nvPr/>
        </p:nvSpPr>
        <p:spPr>
          <a:xfrm rot="0">
            <a:off x="9382960" y="4396345"/>
            <a:ext cx="6635037" cy="1313949"/>
          </a:xfrm>
          <a:prstGeom prst="rect">
            <a:avLst/>
          </a:prstGeom>
        </p:spPr>
        <p:txBody>
          <a:bodyPr anchor="t" rtlCol="false" tIns="0" lIns="0" bIns="0" rIns="0">
            <a:spAutoFit/>
          </a:bodyPr>
          <a:lstStyle/>
          <a:p>
            <a:pPr algn="l" marL="0" indent="0" lvl="0">
              <a:lnSpc>
                <a:spcPts val="9595"/>
              </a:lnSpc>
              <a:spcBef>
                <a:spcPct val="0"/>
              </a:spcBef>
            </a:pPr>
            <a:r>
              <a:rPr lang="en-US" b="true" sz="8967">
                <a:solidFill>
                  <a:srgbClr val="6B64B8"/>
                </a:solidFill>
                <a:latin typeface="Poppins Bold"/>
                <a:ea typeface="Poppins Bold"/>
                <a:cs typeface="Poppins Bold"/>
                <a:sym typeface="Poppins Bold"/>
              </a:rPr>
              <a:t>THANK </a:t>
            </a:r>
          </a:p>
        </p:txBody>
      </p:sp>
      <p:sp>
        <p:nvSpPr>
          <p:cNvPr name="TextBox 16" id="16"/>
          <p:cNvSpPr txBox="true"/>
          <p:nvPr/>
        </p:nvSpPr>
        <p:spPr>
          <a:xfrm rot="0">
            <a:off x="9366745" y="5578295"/>
            <a:ext cx="3758244" cy="1313949"/>
          </a:xfrm>
          <a:prstGeom prst="rect">
            <a:avLst/>
          </a:prstGeom>
        </p:spPr>
        <p:txBody>
          <a:bodyPr anchor="t" rtlCol="false" tIns="0" lIns="0" bIns="0" rIns="0">
            <a:spAutoFit/>
          </a:bodyPr>
          <a:lstStyle/>
          <a:p>
            <a:pPr algn="l" marL="0" indent="0" lvl="0">
              <a:lnSpc>
                <a:spcPts val="9595"/>
              </a:lnSpc>
              <a:spcBef>
                <a:spcPct val="0"/>
              </a:spcBef>
            </a:pPr>
            <a:r>
              <a:rPr lang="en-US" b="true" sz="8967">
                <a:solidFill>
                  <a:srgbClr val="2B2A2A"/>
                </a:solidFill>
                <a:latin typeface="Poppins Bold"/>
                <a:ea typeface="Poppins Bold"/>
                <a:cs typeface="Poppins Bold"/>
                <a:sym typeface="Poppins Bold"/>
              </a:rPr>
              <a:t>you!</a:t>
            </a:r>
          </a:p>
        </p:txBody>
      </p:sp>
      <p:sp>
        <p:nvSpPr>
          <p:cNvPr name="TextBox 17" id="17"/>
          <p:cNvSpPr txBox="true"/>
          <p:nvPr/>
        </p:nvSpPr>
        <p:spPr>
          <a:xfrm rot="0">
            <a:off x="1900893" y="996407"/>
            <a:ext cx="1930226" cy="324836"/>
          </a:xfrm>
          <a:prstGeom prst="rect">
            <a:avLst/>
          </a:prstGeom>
        </p:spPr>
        <p:txBody>
          <a:bodyPr anchor="t" rtlCol="false" tIns="0" lIns="0" bIns="0" rIns="0">
            <a:spAutoFit/>
          </a:bodyPr>
          <a:lstStyle/>
          <a:p>
            <a:pPr algn="l">
              <a:lnSpc>
                <a:spcPts val="2301"/>
              </a:lnSpc>
            </a:pPr>
            <a:r>
              <a:rPr lang="en-US" sz="2150" b="true">
                <a:solidFill>
                  <a:srgbClr val="2B2A2A"/>
                </a:solidFill>
                <a:latin typeface="Poppins Bold"/>
                <a:ea typeface="Poppins Bold"/>
                <a:cs typeface="Poppins Bold"/>
                <a:sym typeface="Poppins Bold"/>
              </a:rPr>
              <a:t>SHOP SMART</a:t>
            </a:r>
          </a:p>
        </p:txBody>
      </p:sp>
      <p:sp>
        <p:nvSpPr>
          <p:cNvPr name="TextBox 18" id="18"/>
          <p:cNvSpPr txBox="true"/>
          <p:nvPr/>
        </p:nvSpPr>
        <p:spPr>
          <a:xfrm rot="0">
            <a:off x="1900893" y="1332894"/>
            <a:ext cx="1581692" cy="178509"/>
          </a:xfrm>
          <a:prstGeom prst="rect">
            <a:avLst/>
          </a:prstGeom>
        </p:spPr>
        <p:txBody>
          <a:bodyPr anchor="t" rtlCol="false" tIns="0" lIns="0" bIns="0" rIns="0">
            <a:spAutoFit/>
          </a:bodyPr>
          <a:lstStyle/>
          <a:p>
            <a:pPr algn="l">
              <a:lnSpc>
                <a:spcPts val="1352"/>
              </a:lnSpc>
            </a:pPr>
            <a:r>
              <a:rPr lang="en-US" sz="1263">
                <a:solidFill>
                  <a:srgbClr val="2B2A2A"/>
                </a:solidFill>
                <a:latin typeface="Poppins"/>
                <a:ea typeface="Poppins"/>
                <a:cs typeface="Poppins"/>
                <a:sym typeface="Poppins"/>
              </a:rPr>
              <a:t>EXPIRY TRACKER</a:t>
            </a:r>
          </a:p>
        </p:txBody>
      </p:sp>
      <p:sp>
        <p:nvSpPr>
          <p:cNvPr name="Freeform 19" id="19"/>
          <p:cNvSpPr/>
          <p:nvPr/>
        </p:nvSpPr>
        <p:spPr>
          <a:xfrm flipH="false" flipV="false" rot="0">
            <a:off x="1024027" y="859014"/>
            <a:ext cx="808901" cy="789781"/>
          </a:xfrm>
          <a:custGeom>
            <a:avLst/>
            <a:gdLst/>
            <a:ahLst/>
            <a:cxnLst/>
            <a:rect r="r" b="b" t="t" l="l"/>
            <a:pathLst>
              <a:path h="789781" w="808901">
                <a:moveTo>
                  <a:pt x="0" y="0"/>
                </a:moveTo>
                <a:lnTo>
                  <a:pt x="808901" y="0"/>
                </a:lnTo>
                <a:lnTo>
                  <a:pt x="808901" y="789782"/>
                </a:lnTo>
                <a:lnTo>
                  <a:pt x="0" y="789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a:grpSpLocks noChangeAspect="true"/>
          </p:cNvGrpSpPr>
          <p:nvPr/>
        </p:nvGrpSpPr>
        <p:grpSpPr>
          <a:xfrm rot="0">
            <a:off x="1250336" y="2075990"/>
            <a:ext cx="5986660" cy="11845636"/>
            <a:chOff x="0" y="0"/>
            <a:chExt cx="2620010" cy="5184140"/>
          </a:xfrm>
        </p:grpSpPr>
        <p:sp>
          <p:nvSpPr>
            <p:cNvPr name="Freeform 21" id="21"/>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2" id="22"/>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0" t="-1273" r="0" b="-1273"/>
              </a:stretch>
            </a:blipFill>
          </p:spPr>
        </p:sp>
        <p:sp>
          <p:nvSpPr>
            <p:cNvPr name="Freeform 23" id="23"/>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name="Freeform 24" id="24"/>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name="Freeform 25" id="25"/>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name="Freeform 26" id="26"/>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name="Freeform 27" id="27"/>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name="Freeform 28" id="28"/>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name="Freeform 29" id="29"/>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name="Group 30" id="30"/>
          <p:cNvGrpSpPr/>
          <p:nvPr/>
        </p:nvGrpSpPr>
        <p:grpSpPr>
          <a:xfrm rot="0">
            <a:off x="9027861" y="1042777"/>
            <a:ext cx="1551389" cy="422257"/>
            <a:chOff x="0" y="0"/>
            <a:chExt cx="531257" cy="144598"/>
          </a:xfrm>
        </p:grpSpPr>
        <p:sp>
          <p:nvSpPr>
            <p:cNvPr name="Freeform 31" id="31"/>
            <p:cNvSpPr/>
            <p:nvPr/>
          </p:nvSpPr>
          <p:spPr>
            <a:xfrm flipH="false" flipV="false" rot="0">
              <a:off x="0" y="0"/>
              <a:ext cx="531257" cy="144598"/>
            </a:xfrm>
            <a:custGeom>
              <a:avLst/>
              <a:gdLst/>
              <a:ahLst/>
              <a:cxnLst/>
              <a:rect r="r" b="b" t="t" l="l"/>
              <a:pathLst>
                <a:path h="144598" w="531257">
                  <a:moveTo>
                    <a:pt x="49903" y="0"/>
                  </a:moveTo>
                  <a:lnTo>
                    <a:pt x="481354" y="0"/>
                  </a:lnTo>
                  <a:cubicBezTo>
                    <a:pt x="508915" y="0"/>
                    <a:pt x="531257" y="22342"/>
                    <a:pt x="531257" y="49903"/>
                  </a:cubicBezTo>
                  <a:lnTo>
                    <a:pt x="531257" y="94694"/>
                  </a:lnTo>
                  <a:cubicBezTo>
                    <a:pt x="531257" y="122255"/>
                    <a:pt x="508915" y="144598"/>
                    <a:pt x="481354" y="144598"/>
                  </a:cubicBezTo>
                  <a:lnTo>
                    <a:pt x="49903" y="144598"/>
                  </a:lnTo>
                  <a:cubicBezTo>
                    <a:pt x="36668" y="144598"/>
                    <a:pt x="23975" y="139340"/>
                    <a:pt x="14616" y="129981"/>
                  </a:cubicBezTo>
                  <a:cubicBezTo>
                    <a:pt x="5258" y="120623"/>
                    <a:pt x="0" y="107930"/>
                    <a:pt x="0" y="94694"/>
                  </a:cubicBezTo>
                  <a:lnTo>
                    <a:pt x="0" y="49903"/>
                  </a:lnTo>
                  <a:cubicBezTo>
                    <a:pt x="0" y="22342"/>
                    <a:pt x="22342" y="0"/>
                    <a:pt x="49903" y="0"/>
                  </a:cubicBezTo>
                  <a:close/>
                </a:path>
              </a:pathLst>
            </a:custGeom>
            <a:solidFill>
              <a:srgbClr val="F7B8D2"/>
            </a:solidFill>
            <a:ln cap="sq">
              <a:noFill/>
              <a:prstDash val="solid"/>
              <a:miter/>
            </a:ln>
          </p:spPr>
        </p:sp>
        <p:sp>
          <p:nvSpPr>
            <p:cNvPr name="TextBox 32" id="32"/>
            <p:cNvSpPr txBox="true"/>
            <p:nvPr/>
          </p:nvSpPr>
          <p:spPr>
            <a:xfrm>
              <a:off x="0" y="-57150"/>
              <a:ext cx="531257" cy="201748"/>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33" id="33"/>
          <p:cNvSpPr txBox="true"/>
          <p:nvPr/>
        </p:nvSpPr>
        <p:spPr>
          <a:xfrm rot="0">
            <a:off x="9266239" y="1049992"/>
            <a:ext cx="1074634"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Home</a:t>
            </a:r>
          </a:p>
        </p:txBody>
      </p:sp>
      <p:sp>
        <p:nvSpPr>
          <p:cNvPr name="TextBox 34" id="34"/>
          <p:cNvSpPr txBox="true"/>
          <p:nvPr/>
        </p:nvSpPr>
        <p:spPr>
          <a:xfrm rot="0">
            <a:off x="11069482" y="1049992"/>
            <a:ext cx="1671283" cy="350088"/>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Introduction</a:t>
            </a:r>
          </a:p>
        </p:txBody>
      </p:sp>
      <p:sp>
        <p:nvSpPr>
          <p:cNvPr name="TextBox 35" id="35"/>
          <p:cNvSpPr txBox="true"/>
          <p:nvPr/>
        </p:nvSpPr>
        <p:spPr>
          <a:xfrm rot="0">
            <a:off x="13244465" y="1049992"/>
            <a:ext cx="1716977"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Similar Apps</a:t>
            </a:r>
          </a:p>
        </p:txBody>
      </p:sp>
      <p:sp>
        <p:nvSpPr>
          <p:cNvPr name="TextBox 36" id="36"/>
          <p:cNvSpPr txBox="true"/>
          <p:nvPr/>
        </p:nvSpPr>
        <p:spPr>
          <a:xfrm rot="0">
            <a:off x="15447217" y="1066711"/>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Features</a:t>
            </a:r>
          </a:p>
        </p:txBody>
      </p:sp>
      <p:sp>
        <p:nvSpPr>
          <p:cNvPr name="TextBox 37" id="37"/>
          <p:cNvSpPr txBox="true"/>
          <p:nvPr/>
        </p:nvSpPr>
        <p:spPr>
          <a:xfrm rot="0">
            <a:off x="16961780" y="1032068"/>
            <a:ext cx="1281321" cy="350675"/>
          </a:xfrm>
          <a:prstGeom prst="rect">
            <a:avLst/>
          </a:prstGeom>
        </p:spPr>
        <p:txBody>
          <a:bodyPr anchor="t" rtlCol="false" tIns="0" lIns="0" bIns="0" rIns="0">
            <a:spAutoFit/>
          </a:bodyPr>
          <a:lstStyle/>
          <a:p>
            <a:pPr algn="ctr">
              <a:lnSpc>
                <a:spcPts val="2753"/>
              </a:lnSpc>
            </a:pPr>
            <a:r>
              <a:rPr lang="en-US" sz="1967" b="true">
                <a:solidFill>
                  <a:srgbClr val="2B2A2A"/>
                </a:solidFill>
                <a:latin typeface="Poppins Medium"/>
                <a:ea typeface="Poppins Medium"/>
                <a:cs typeface="Poppins Medium"/>
                <a:sym typeface="Poppins Medium"/>
              </a:rPr>
              <a:t>Results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DAGlhKhuCCs</dc:identifier>
  <dcterms:modified xsi:type="dcterms:W3CDTF">2011-08-01T06:04:30Z</dcterms:modified>
  <cp:revision>1</cp:revision>
  <dc:title>Purple and Pink Pastel Simple Modern Payment Mobile App Presentation</dc:title>
</cp:coreProperties>
</file>